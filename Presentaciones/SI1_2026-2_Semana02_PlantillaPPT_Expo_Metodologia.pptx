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3"/>
  </p:notesMasterIdLst>
  <p:handoutMasterIdLst>
    <p:handoutMasterId r:id="rId14"/>
  </p:handoutMasterIdLst>
  <p:sldIdLst>
    <p:sldId id="306" r:id="rId2"/>
    <p:sldId id="1076" r:id="rId3"/>
    <p:sldId id="1084" r:id="rId4"/>
    <p:sldId id="1077" r:id="rId5"/>
    <p:sldId id="1085" r:id="rId6"/>
    <p:sldId id="1086" r:id="rId7"/>
    <p:sldId id="1087" r:id="rId8"/>
    <p:sldId id="1088" r:id="rId9"/>
    <p:sldId id="1089" r:id="rId10"/>
    <p:sldId id="1090" r:id="rId11"/>
    <p:sldId id="1083" r:id="rId12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5"/>
    </p:embeddedFont>
    <p:embeddedFont>
      <p:font typeface="Nunito" pitchFamily="2" charset="0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A00"/>
    <a:srgbClr val="FCBAA6"/>
    <a:srgbClr val="333333"/>
    <a:srgbClr val="D60000"/>
    <a:srgbClr val="F0F7FE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8B95A6-628A-4F00-B418-630C7E3DFE8E}">
  <a:tblStyle styleId="{6E8B95A6-628A-4F00-B418-630C7E3DFE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6283" autoAdjust="0"/>
  </p:normalViewPr>
  <p:slideViewPr>
    <p:cSldViewPr snapToGrid="0" snapToObjects="1" showGuides="1">
      <p:cViewPr varScale="1">
        <p:scale>
          <a:sx n="146" d="100"/>
          <a:sy n="146" d="100"/>
        </p:scale>
        <p:origin x="22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F0CD27-47B9-AD48-B4DE-60162A2E0B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7DC2C9-B156-534D-8E40-C848812DC3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A6578-EAD0-834C-83D1-171C36565C98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717857-0327-0545-90E1-44BADE5F32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4223F-7976-5A49-9384-0FBC9D712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0BD6E-73C6-5E4E-8AA3-AA46CA8370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5409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793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665613A7-C522-634A-4476-58D19E45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1601D415-B970-AB91-30C8-1F563D9CE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8D861C5B-C251-A277-FD9C-8790343E6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698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BFB0CC86-D2FD-4AC0-0E4A-2C525B0B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54649819-60C4-E10A-D079-982F84E4A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E191EFA5-F491-DBD0-0199-370624843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442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A49DDC01-50C0-4FA6-1CA6-E9104275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16CA5EF8-269F-44E9-E5B9-C6FB912AA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CA6D56A1-2FFB-BC84-8B67-0CBD6E720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893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8FF814EA-030D-CD1C-9ED4-850CFE48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80544BE6-49FC-69FC-3ECB-F8122C7693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09B1D265-9AFF-B229-7A63-59E8B0C35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16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A6FB2F4A-6713-5485-7A61-08D7D779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A7536C20-1A5C-ECAF-BA9A-CED98CC2A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3AA2C9BA-2556-86FF-9F3B-FAD3AEA2B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128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C7E9CAA8-0253-3B37-F964-0831A9C1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9E0F354F-4F9C-666E-64B2-AE5238259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6CA0427E-5CD8-6B8E-A6E7-881A238E5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176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A305816E-FD3A-EBD8-45FE-2FFE763E6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2F263929-4AEA-6781-CFA6-20C01B07E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AF644BD0-8E8F-922C-98AE-BA477525D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1385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C357D71E-8098-6A69-94F0-5C59F577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>
            <a:extLst>
              <a:ext uri="{FF2B5EF4-FFF2-40B4-BE49-F238E27FC236}">
                <a16:creationId xmlns:a16="http://schemas.microsoft.com/office/drawing/2014/main" id="{0CCB3980-F337-B3DE-9AA9-24AD4C60F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PE"/>
          </a:p>
        </p:txBody>
      </p:sp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12C18638-B631-A65F-9DD1-2CE98A5CB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728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E60842-F737-4612-A947-C9FA3BDF18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233"/>
          <a:stretch/>
        </p:blipFill>
        <p:spPr>
          <a:xfrm>
            <a:off x="90957" y="-1877"/>
            <a:ext cx="1684503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rgbClr val="FF3A00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8B4027-63BE-4471-9EC2-401A137E88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957" y="-1877"/>
            <a:ext cx="2561321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1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tx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740B2-2B52-498B-B379-B910B6524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9893"/>
          <a:stretch/>
        </p:blipFill>
        <p:spPr>
          <a:xfrm>
            <a:off x="7100699" y="4321238"/>
            <a:ext cx="1795652" cy="8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6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preserve="1">
  <p:cSld name="1_Main slide">
    <p:bg>
      <p:bgPr>
        <a:solidFill>
          <a:schemeClr val="bg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400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6C3590-54E2-45D9-AD99-8DF487F1B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6348" y="4321238"/>
            <a:ext cx="2561321" cy="8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 preserve="1">
  <p:cSld name="1_Text slide with title 1">
    <p:bg>
      <p:bgPr>
        <a:solidFill>
          <a:srgbClr val="FF3A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marL="274320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marL="320040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marL="365760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marL="411480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D424CB-1575-FB4E-A03E-542348CBF3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32BB26-420C-9542-AE02-C2D8D2FDC7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8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blank" preserve="1">
  <p:cSld name="1_Title and Sub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878E344-D77D-5346-AB71-8DB7D769D0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7" name="Google Shape;37;p6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" name="Google Shape;216;p28">
            <a:extLst>
              <a:ext uri="{FF2B5EF4-FFF2-40B4-BE49-F238E27FC236}">
                <a16:creationId xmlns:a16="http://schemas.microsoft.com/office/drawing/2014/main" id="{9621EFEA-B57D-894F-9454-96EED43DCBE2}"/>
              </a:ext>
            </a:extLst>
          </p:cNvPr>
          <p:cNvSpPr/>
          <p:nvPr userDrawn="1"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7F51E1-5589-6842-A5A4-9F0645876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5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 type="twoColTx" preserve="1">
  <p:cSld name="1_Slide with two columns">
    <p:bg>
      <p:bgPr>
        <a:solidFill>
          <a:srgbClr val="FF3A0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64;p10">
            <a:extLst>
              <a:ext uri="{FF2B5EF4-FFF2-40B4-BE49-F238E27FC236}">
                <a16:creationId xmlns:a16="http://schemas.microsoft.com/office/drawing/2014/main" id="{9B11CE8D-9E3F-B545-90A8-091FBDD976F7}"/>
              </a:ext>
            </a:extLst>
          </p:cNvPr>
          <p:cNvSpPr/>
          <p:nvPr userDrawn="1"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140CDB-8B02-8F47-85E2-53F35BB87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B04DC8E-1314-C149-B3EA-968530BBD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D716258-4A8A-2E4E-9D4A-AF9462E49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  <p:sp>
        <p:nvSpPr>
          <p:cNvPr id="10" name="Marcador de número de diapositiva 2">
            <a:extLst>
              <a:ext uri="{FF2B5EF4-FFF2-40B4-BE49-F238E27FC236}">
                <a16:creationId xmlns:a16="http://schemas.microsoft.com/office/drawing/2014/main" id="{95068C37-A98D-4C68-97B6-087DC20ACD61}"/>
              </a:ext>
            </a:extLst>
          </p:cNvPr>
          <p:cNvSpPr txBox="1">
            <a:spLocks/>
          </p:cNvSpPr>
          <p:nvPr userDrawn="1"/>
        </p:nvSpPr>
        <p:spPr>
          <a:xfrm>
            <a:off x="8604250" y="4908176"/>
            <a:ext cx="539750" cy="2184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21B3793-CA5A-4C46-BE7B-8A43ED5EDC79}" type="slidenum">
              <a:rPr lang="es-ES_tradnl" sz="800" smtClean="0"/>
              <a:t>‹Nº›</a:t>
            </a:fld>
            <a:endParaRPr lang="es-ES_tradnl" sz="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 preserve="1">
  <p:cSld name="1_Slide with three columns">
    <p:bg>
      <p:bgPr>
        <a:solidFill>
          <a:srgbClr val="FF3A00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sp>
        <p:nvSpPr>
          <p:cNvPr id="78" name="Google Shape;78;p11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90CFE3-0E74-E845-9472-E7EDB30853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05447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0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slide with big number" preserve="1">
  <p:cSld name="1_Red slide with big number">
    <p:bg>
      <p:bgPr>
        <a:solidFill>
          <a:schemeClr val="tx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 b="1" i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BEA12D-5876-F84C-924F-80A98BCBAC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 preserve="1">
  <p:cSld name="1_Slide with titl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93BCDC-2364-5342-8B64-B47CD4C286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8805448" y="111858"/>
            <a:ext cx="225909" cy="2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9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sz="16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sz="12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81" r:id="rId5"/>
    <p:sldLayoutId id="2147483678" r:id="rId6"/>
    <p:sldLayoutId id="2147483683" r:id="rId7"/>
    <p:sldLayoutId id="2147483657" r:id="rId8"/>
    <p:sldLayoutId id="2147483682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41255-CAD6-384C-86A6-64B6EB866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900" y="952830"/>
            <a:ext cx="6694200" cy="1592036"/>
          </a:xfrm>
        </p:spPr>
        <p:txBody>
          <a:bodyPr/>
          <a:lstStyle/>
          <a:p>
            <a:r>
              <a:rPr lang="es-PE" sz="2400" cap="small" dirty="0"/>
              <a:t>Algoritmo de reoptimización post-fallo basado en Target-Transition en redes SDN</a:t>
            </a:r>
            <a:endParaRPr lang="es-PE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A2C41-E883-BE12-A602-0D8B03BC9652}"/>
              </a:ext>
            </a:extLst>
          </p:cNvPr>
          <p:cNvSpPr txBox="1"/>
          <p:nvPr/>
        </p:nvSpPr>
        <p:spPr>
          <a:xfrm>
            <a:off x="2966484" y="3103006"/>
            <a:ext cx="3211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Jharif Jeroffer Grandez Cama</a:t>
            </a: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endParaRPr lang="es-PE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sym typeface="Abril Fatface"/>
            </a:endParaRPr>
          </a:p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Asesor:</a:t>
            </a:r>
          </a:p>
          <a:p>
            <a:pPr algn="ctr"/>
            <a:r>
              <a:rPr lang="es-PE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sym typeface="Abril Fatface"/>
              </a:rPr>
              <a:t>Carlos Martin Torres Paredes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212F64-8899-2666-FE6A-29B66698867A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02E56C-A15C-9030-0F1D-2C13C67D1DFC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3981A549-892E-4BA4-A296-DEE06B93F869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95205F-C5AB-71A6-A38A-BB7A9024EF55}"/>
              </a:ext>
            </a:extLst>
          </p:cNvPr>
          <p:cNvSpPr txBox="1"/>
          <p:nvPr/>
        </p:nvSpPr>
        <p:spPr>
          <a:xfrm>
            <a:off x="3256576" y="2598635"/>
            <a:ext cx="2630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PE" b="1" dirty="0">
                <a:solidFill>
                  <a:srgbClr val="FF3A00"/>
                </a:solidFill>
              </a:rPr>
              <a:t>Línea</a:t>
            </a:r>
            <a:r>
              <a:rPr lang="es-PE" dirty="0">
                <a:solidFill>
                  <a:srgbClr val="FF3A00"/>
                </a:solidFill>
              </a:rPr>
              <a:t>: Redes y ciberseguridad</a:t>
            </a:r>
          </a:p>
        </p:txBody>
      </p:sp>
      <p:pic>
        <p:nvPicPr>
          <p:cNvPr id="3" name="Imagen 2" descr="ODS Objetivo 9: Infraestructuras y crecimiento sostenible">
            <a:extLst>
              <a:ext uri="{FF2B5EF4-FFF2-40B4-BE49-F238E27FC236}">
                <a16:creationId xmlns:a16="http://schemas.microsoft.com/office/drawing/2014/main" id="{6FCF5A23-9044-648E-565F-F6B59147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00" y="3934661"/>
            <a:ext cx="918210" cy="91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9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BCA43F-E37E-5759-86F3-4ADD1A6CBB61}"/>
              </a:ext>
            </a:extLst>
          </p:cNvPr>
          <p:cNvSpPr txBox="1"/>
          <p:nvPr/>
        </p:nvSpPr>
        <p:spPr>
          <a:xfrm>
            <a:off x="455616" y="336340"/>
            <a:ext cx="1279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Índice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D252CA-0D6F-545D-7263-419E5BE90DAD}"/>
              </a:ext>
            </a:extLst>
          </p:cNvPr>
          <p:cNvSpPr txBox="1"/>
          <p:nvPr/>
        </p:nvSpPr>
        <p:spPr>
          <a:xfrm>
            <a:off x="776809" y="1009455"/>
            <a:ext cx="17299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Metodología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Etapa 01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Etapa 02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Etapa 03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Etapa 04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Etapa 05</a:t>
            </a:r>
          </a:p>
          <a:p>
            <a:pPr marL="285750" lvl="0" indent="-285750">
              <a:buClr>
                <a:srgbClr val="FF3A00"/>
              </a:buClr>
              <a:buFont typeface="Arial" panose="020B0604020202020204" pitchFamily="34" charset="0"/>
              <a:buChar char="•"/>
            </a:pPr>
            <a:r>
              <a:rPr lang="es-PE" sz="1800" dirty="0"/>
              <a:t>Etapa 06</a:t>
            </a:r>
          </a:p>
        </p:txBody>
      </p:sp>
      <p:pic>
        <p:nvPicPr>
          <p:cNvPr id="3" name="Imagen 2" descr="Icono De Lista De Tareas Pendientes En Fondo Transparente PNG ,dibujos  Icono De Lista De Tareas Pendientes, Lista De Cosas Por Hacer, Lista PNG  Imagen para Descarga Gratuita | Pngtree">
            <a:extLst>
              <a:ext uri="{FF2B5EF4-FFF2-40B4-BE49-F238E27FC236}">
                <a16:creationId xmlns:a16="http://schemas.microsoft.com/office/drawing/2014/main" id="{633EC5BF-B066-ACE9-AAD1-88D1A05F0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757" y="2836273"/>
            <a:ext cx="1897924" cy="189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08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B50C6B17-4B28-BEB7-D3D5-DCD2D31B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D49E21-A7BC-ECC6-193F-9F6288FCCC4C}"/>
              </a:ext>
            </a:extLst>
          </p:cNvPr>
          <p:cNvSpPr txBox="1"/>
          <p:nvPr/>
        </p:nvSpPr>
        <p:spPr>
          <a:xfrm>
            <a:off x="455616" y="336340"/>
            <a:ext cx="2302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1C6636-8807-8807-A8CD-F054890F1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77" y="914716"/>
            <a:ext cx="6876497" cy="3912838"/>
          </a:xfrm>
          <a:prstGeom prst="rect">
            <a:avLst/>
          </a:prstGeom>
        </p:spPr>
      </p:pic>
      <p:pic>
        <p:nvPicPr>
          <p:cNvPr id="5" name="Imagen 4" descr="🤔 Cara Pensativa Emoji: Significado y Uso">
            <a:extLst>
              <a:ext uri="{FF2B5EF4-FFF2-40B4-BE49-F238E27FC236}">
                <a16:creationId xmlns:a16="http://schemas.microsoft.com/office/drawing/2014/main" id="{AB4E1778-BC9E-F881-A25D-0C1DBFE0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998" y="3554321"/>
            <a:ext cx="1404496" cy="140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2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0C70AE4F-C837-7313-5D09-ABE2D45A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6DE8BA2C-B76D-DE8E-20B6-FA7606254B6A}"/>
              </a:ext>
            </a:extLst>
          </p:cNvPr>
          <p:cNvSpPr/>
          <p:nvPr/>
        </p:nvSpPr>
        <p:spPr>
          <a:xfrm>
            <a:off x="309119" y="876602"/>
            <a:ext cx="7094982" cy="3789362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EFCD90-B534-6A11-07B2-DDFA3B2880F1}"/>
              </a:ext>
            </a:extLst>
          </p:cNvPr>
          <p:cNvSpPr txBox="1"/>
          <p:nvPr/>
        </p:nvSpPr>
        <p:spPr>
          <a:xfrm>
            <a:off x="455616" y="33634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Etapa 01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15C034-DD8C-FD81-EAF2-B317D0C8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71" y="1373969"/>
            <a:ext cx="2582729" cy="28929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E486A0-8E1C-4C1D-DC79-7CCED1BA5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953" y="1020256"/>
            <a:ext cx="3215697" cy="25169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7EDB1B-8A1E-154F-A379-5296C0A2C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953" y="3537170"/>
            <a:ext cx="3609397" cy="941582"/>
          </a:xfrm>
          <a:prstGeom prst="rect">
            <a:avLst/>
          </a:prstGeom>
        </p:spPr>
      </p:pic>
      <p:sp>
        <p:nvSpPr>
          <p:cNvPr id="38" name="TextBox 14">
            <a:extLst>
              <a:ext uri="{FF2B5EF4-FFF2-40B4-BE49-F238E27FC236}">
                <a16:creationId xmlns:a16="http://schemas.microsoft.com/office/drawing/2014/main" id="{7CF79754-3BC0-D507-11E7-51D88745C529}"/>
              </a:ext>
            </a:extLst>
          </p:cNvPr>
          <p:cNvSpPr txBox="1"/>
          <p:nvPr/>
        </p:nvSpPr>
        <p:spPr>
          <a:xfrm>
            <a:off x="455616" y="4807160"/>
            <a:ext cx="902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AD1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Mininet + OS-Ken: </a:t>
            </a:r>
            <a:r>
              <a:rPr dirty="0" err="1">
                <a:solidFill>
                  <a:schemeClr val="tx1"/>
                </a:solidFill>
              </a:rPr>
              <a:t>nodos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grupos</a:t>
            </a:r>
            <a:r>
              <a:rPr dirty="0">
                <a:solidFill>
                  <a:schemeClr val="tx1"/>
                </a:solidFill>
              </a:rPr>
              <a:t> FF y </a:t>
            </a:r>
            <a:r>
              <a:rPr dirty="0" err="1">
                <a:solidFill>
                  <a:schemeClr val="tx1"/>
                </a:solidFill>
              </a:rPr>
              <a:t>conectividad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39482223-150E-BD4C-FC8A-51CEF14A6F4A}"/>
              </a:ext>
            </a:extLst>
          </p:cNvPr>
          <p:cNvSpPr/>
          <p:nvPr/>
        </p:nvSpPr>
        <p:spPr>
          <a:xfrm>
            <a:off x="7564307" y="876603"/>
            <a:ext cx="1439994" cy="3789362"/>
          </a:xfrm>
          <a:prstGeom prst="roundRect">
            <a:avLst/>
          </a:prstGeom>
          <a:solidFill>
            <a:schemeClr val="bg1"/>
          </a:solidFill>
          <a:ln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DA3FBA87-F81A-3DFE-6C02-1880A8917805}"/>
              </a:ext>
            </a:extLst>
          </p:cNvPr>
          <p:cNvSpPr txBox="1"/>
          <p:nvPr/>
        </p:nvSpPr>
        <p:spPr>
          <a:xfrm>
            <a:off x="7645975" y="1082342"/>
            <a:ext cx="1795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B5DB"/>
                </a:solidFill>
                <a:latin typeface="Aptos"/>
              </a:defRPr>
            </a:pPr>
            <a:r>
              <a:rPr sz="900" dirty="0">
                <a:solidFill>
                  <a:srgbClr val="FF3A00"/>
                </a:solidFill>
              </a:rPr>
              <a:t>ACTIVIDADES</a:t>
            </a:r>
          </a:p>
        </p:txBody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28459A27-79A3-EC1D-6902-9456100F2627}"/>
              </a:ext>
            </a:extLst>
          </p:cNvPr>
          <p:cNvSpPr txBox="1"/>
          <p:nvPr/>
        </p:nvSpPr>
        <p:spPr>
          <a:xfrm>
            <a:off x="7796867" y="1455167"/>
            <a:ext cx="1095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sz="800" dirty="0">
                <a:solidFill>
                  <a:schemeClr val="tx1"/>
                </a:solidFill>
              </a:rPr>
              <a:t>01  </a:t>
            </a:r>
            <a:r>
              <a:rPr sz="800" dirty="0" err="1">
                <a:solidFill>
                  <a:schemeClr val="tx1"/>
                </a:solidFill>
              </a:rPr>
              <a:t>Definición</a:t>
            </a:r>
            <a:r>
              <a:rPr sz="800" dirty="0">
                <a:solidFill>
                  <a:schemeClr val="tx1"/>
                </a:solidFill>
              </a:rPr>
              <a:t> de </a:t>
            </a:r>
            <a:r>
              <a:rPr sz="800" dirty="0" err="1">
                <a:solidFill>
                  <a:schemeClr val="tx1"/>
                </a:solidFill>
              </a:rPr>
              <a:t>topología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64540BCA-4007-6259-5E8C-8B500F72D5A8}"/>
              </a:ext>
            </a:extLst>
          </p:cNvPr>
          <p:cNvSpPr txBox="1"/>
          <p:nvPr/>
        </p:nvSpPr>
        <p:spPr>
          <a:xfrm>
            <a:off x="7776411" y="2013320"/>
            <a:ext cx="9393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sz="800" dirty="0">
                <a:solidFill>
                  <a:schemeClr val="tx1"/>
                </a:solidFill>
              </a:rPr>
              <a:t>02  </a:t>
            </a:r>
            <a:r>
              <a:rPr sz="800" dirty="0" err="1">
                <a:solidFill>
                  <a:schemeClr val="tx1"/>
                </a:solidFill>
              </a:rPr>
              <a:t>Despliegue</a:t>
            </a:r>
            <a:r>
              <a:rPr sz="800" dirty="0">
                <a:solidFill>
                  <a:schemeClr val="tx1"/>
                </a:solidFill>
              </a:rPr>
              <a:t> </a:t>
            </a:r>
            <a:r>
              <a:rPr sz="800" dirty="0" err="1">
                <a:solidFill>
                  <a:schemeClr val="tx1"/>
                </a:solidFill>
              </a:rPr>
              <a:t>virtualizado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25A9D846-239F-8827-5363-248C966E4CB3}"/>
              </a:ext>
            </a:extLst>
          </p:cNvPr>
          <p:cNvSpPr txBox="1"/>
          <p:nvPr/>
        </p:nvSpPr>
        <p:spPr>
          <a:xfrm>
            <a:off x="7780113" y="2570975"/>
            <a:ext cx="1028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sz="800" dirty="0">
                <a:solidFill>
                  <a:schemeClr val="tx1"/>
                </a:solidFill>
              </a:rPr>
              <a:t>03  Rutas </a:t>
            </a:r>
            <a:r>
              <a:rPr sz="800" dirty="0" err="1">
                <a:solidFill>
                  <a:schemeClr val="tx1"/>
                </a:solidFill>
              </a:rPr>
              <a:t>principales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7CDA3C01-7C22-1B05-6A2D-316C7466CC9B}"/>
              </a:ext>
            </a:extLst>
          </p:cNvPr>
          <p:cNvSpPr txBox="1"/>
          <p:nvPr/>
        </p:nvSpPr>
        <p:spPr>
          <a:xfrm>
            <a:off x="7796867" y="3128132"/>
            <a:ext cx="93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sz="800" dirty="0">
                <a:solidFill>
                  <a:schemeClr val="tx1"/>
                </a:solidFill>
              </a:rPr>
              <a:t>04  </a:t>
            </a:r>
            <a:r>
              <a:rPr sz="800" dirty="0" err="1">
                <a:solidFill>
                  <a:schemeClr val="tx1"/>
                </a:solidFill>
              </a:rPr>
              <a:t>Protección</a:t>
            </a:r>
            <a:r>
              <a:rPr sz="800" dirty="0">
                <a:solidFill>
                  <a:schemeClr val="tx1"/>
                </a:solidFill>
              </a:rPr>
              <a:t> FF </a:t>
            </a:r>
            <a:r>
              <a:rPr sz="800" dirty="0" err="1">
                <a:solidFill>
                  <a:schemeClr val="tx1"/>
                </a:solidFill>
              </a:rPr>
              <a:t>instalada</a:t>
            </a:r>
            <a:endParaRPr sz="800" dirty="0">
              <a:solidFill>
                <a:schemeClr val="tx1"/>
              </a:solidFill>
            </a:endParaRP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43013FC9-269E-1E6C-3F78-5668CFED08F3}"/>
              </a:ext>
            </a:extLst>
          </p:cNvPr>
          <p:cNvSpPr txBox="1"/>
          <p:nvPr/>
        </p:nvSpPr>
        <p:spPr>
          <a:xfrm>
            <a:off x="7776411" y="3686285"/>
            <a:ext cx="973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sz="800" dirty="0">
                <a:solidFill>
                  <a:schemeClr val="tx1"/>
                </a:solidFill>
              </a:rPr>
              <a:t>05  </a:t>
            </a:r>
            <a:r>
              <a:rPr sz="800" dirty="0" err="1">
                <a:solidFill>
                  <a:schemeClr val="tx1"/>
                </a:solidFill>
              </a:rPr>
              <a:t>Recuperación</a:t>
            </a:r>
            <a:r>
              <a:rPr sz="800" dirty="0">
                <a:solidFill>
                  <a:schemeClr val="tx1"/>
                </a:solidFill>
              </a:rPr>
              <a:t> </a:t>
            </a:r>
            <a:r>
              <a:rPr sz="800" dirty="0" err="1">
                <a:solidFill>
                  <a:schemeClr val="tx1"/>
                </a:solidFill>
              </a:rPr>
              <a:t>automática</a:t>
            </a:r>
            <a:endParaRPr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71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DE5A7653-9DE7-6AB4-964D-4FB3374A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E6BC69F3-B333-0836-0C5E-96211C2D88E6}"/>
              </a:ext>
            </a:extLst>
          </p:cNvPr>
          <p:cNvSpPr/>
          <p:nvPr/>
        </p:nvSpPr>
        <p:spPr>
          <a:xfrm>
            <a:off x="309119" y="876602"/>
            <a:ext cx="7094982" cy="3789362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B8BFAAE-4417-9DB4-D504-479C5DF42CEE}"/>
              </a:ext>
            </a:extLst>
          </p:cNvPr>
          <p:cNvSpPr txBox="1"/>
          <p:nvPr/>
        </p:nvSpPr>
        <p:spPr>
          <a:xfrm>
            <a:off x="455616" y="33634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Etapa 02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F57654FF-84C6-8539-ADB9-2C3CAD9BD1A7}"/>
              </a:ext>
            </a:extLst>
          </p:cNvPr>
          <p:cNvSpPr txBox="1"/>
          <p:nvPr/>
        </p:nvSpPr>
        <p:spPr>
          <a:xfrm>
            <a:off x="455616" y="4807160"/>
            <a:ext cx="902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AD1"/>
                </a:solidFill>
                <a:latin typeface="Aptos"/>
              </a:defRPr>
            </a:pPr>
            <a:r>
              <a:rPr lang="es-MX" dirty="0">
                <a:solidFill>
                  <a:schemeClr val="tx1"/>
                </a:solidFill>
              </a:rPr>
              <a:t>OS-Ken: 12 comunicaciones, grupos, </a:t>
            </a:r>
            <a:r>
              <a:rPr lang="es-MX" dirty="0" err="1">
                <a:solidFill>
                  <a:schemeClr val="tx1"/>
                </a:solidFill>
              </a:rPr>
              <a:t>buckets</a:t>
            </a:r>
            <a:r>
              <a:rPr lang="es-MX" dirty="0">
                <a:solidFill>
                  <a:schemeClr val="tx1"/>
                </a:solidFill>
              </a:rPr>
              <a:t> y MLU FF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83998224-834D-27D5-B27D-DA87B24DB99A}"/>
              </a:ext>
            </a:extLst>
          </p:cNvPr>
          <p:cNvSpPr/>
          <p:nvPr/>
        </p:nvSpPr>
        <p:spPr>
          <a:xfrm>
            <a:off x="7564307" y="876603"/>
            <a:ext cx="1439994" cy="3789362"/>
          </a:xfrm>
          <a:prstGeom prst="roundRect">
            <a:avLst/>
          </a:prstGeom>
          <a:solidFill>
            <a:schemeClr val="bg1"/>
          </a:solidFill>
          <a:ln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98F46724-804B-536E-78DE-018DD47522A8}"/>
              </a:ext>
            </a:extLst>
          </p:cNvPr>
          <p:cNvSpPr txBox="1"/>
          <p:nvPr/>
        </p:nvSpPr>
        <p:spPr>
          <a:xfrm>
            <a:off x="7645975" y="1082342"/>
            <a:ext cx="1795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B5DB"/>
                </a:solidFill>
                <a:latin typeface="Aptos"/>
              </a:defRPr>
            </a:pPr>
            <a:r>
              <a:rPr sz="900" dirty="0">
                <a:solidFill>
                  <a:srgbClr val="FF3A00"/>
                </a:solidFill>
              </a:rPr>
              <a:t>ACTIVIDADES</a:t>
            </a:r>
          </a:p>
        </p:txBody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C863FDF8-9D94-3A05-D62C-FF9A165E14DB}"/>
              </a:ext>
            </a:extLst>
          </p:cNvPr>
          <p:cNvSpPr txBox="1"/>
          <p:nvPr/>
        </p:nvSpPr>
        <p:spPr>
          <a:xfrm>
            <a:off x="7796867" y="1455167"/>
            <a:ext cx="1095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MX" sz="800" dirty="0">
                <a:solidFill>
                  <a:schemeClr val="tx1"/>
                </a:solidFill>
              </a:rPr>
              <a:t>01  Inducción y detección del fallo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85B79201-45D3-CB1B-B983-3F9389765D31}"/>
              </a:ext>
            </a:extLst>
          </p:cNvPr>
          <p:cNvSpPr txBox="1"/>
          <p:nvPr/>
        </p:nvSpPr>
        <p:spPr>
          <a:xfrm>
            <a:off x="7776411" y="2013320"/>
            <a:ext cx="9393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02  Forwarding activo (FS)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AE8DB6EC-BDA8-2124-92B8-444ABCC1C3B9}"/>
              </a:ext>
            </a:extLst>
          </p:cNvPr>
          <p:cNvSpPr txBox="1"/>
          <p:nvPr/>
        </p:nvSpPr>
        <p:spPr>
          <a:xfrm>
            <a:off x="7780113" y="2570975"/>
            <a:ext cx="1028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03  Protección instalada (PS)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98A3F4F7-E38A-72F1-B26A-9A2DC317A683}"/>
              </a:ext>
            </a:extLst>
          </p:cNvPr>
          <p:cNvSpPr txBox="1"/>
          <p:nvPr/>
        </p:nvSpPr>
        <p:spPr>
          <a:xfrm>
            <a:off x="7796867" y="3128132"/>
            <a:ext cx="93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04  Recursos (RS)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137C9D71-B16A-0F68-AFC0-75B5507443AA}"/>
              </a:ext>
            </a:extLst>
          </p:cNvPr>
          <p:cNvSpPr txBox="1"/>
          <p:nvPr/>
        </p:nvSpPr>
        <p:spPr>
          <a:xfrm>
            <a:off x="7776411" y="3686285"/>
            <a:ext cx="973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05  Estado integrado FS/PS/RS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FBD1AF-811C-E064-2B45-7347D73A3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05" y="1793721"/>
            <a:ext cx="6522720" cy="17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9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DC8D85D8-7F4E-C6DF-74EF-33AAD6BF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A40B078E-7341-86B9-F54A-B17ECABD9356}"/>
              </a:ext>
            </a:extLst>
          </p:cNvPr>
          <p:cNvSpPr/>
          <p:nvPr/>
        </p:nvSpPr>
        <p:spPr>
          <a:xfrm>
            <a:off x="309119" y="876602"/>
            <a:ext cx="7094982" cy="3789362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51D1A7-2845-4436-8916-B61DDB461465}"/>
              </a:ext>
            </a:extLst>
          </p:cNvPr>
          <p:cNvSpPr txBox="1"/>
          <p:nvPr/>
        </p:nvSpPr>
        <p:spPr>
          <a:xfrm>
            <a:off x="455616" y="33634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Etapa 03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195F53AC-3650-CF94-87BF-995EDE285E30}"/>
              </a:ext>
            </a:extLst>
          </p:cNvPr>
          <p:cNvSpPr txBox="1"/>
          <p:nvPr/>
        </p:nvSpPr>
        <p:spPr>
          <a:xfrm>
            <a:off x="455616" y="4807160"/>
            <a:ext cx="902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AD1"/>
                </a:solidFill>
                <a:latin typeface="Aptos"/>
              </a:defRPr>
            </a:pPr>
            <a:r>
              <a:rPr lang="es-MX" dirty="0">
                <a:solidFill>
                  <a:schemeClr val="tx1"/>
                </a:solidFill>
              </a:rPr>
              <a:t>OS-Ken: presupuesto, candidatos y rutas propuestas</a:t>
            </a: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56A4F4E7-D572-76F9-CB11-3170AF6C60B8}"/>
              </a:ext>
            </a:extLst>
          </p:cNvPr>
          <p:cNvSpPr/>
          <p:nvPr/>
        </p:nvSpPr>
        <p:spPr>
          <a:xfrm>
            <a:off x="7564307" y="876603"/>
            <a:ext cx="1439994" cy="3789362"/>
          </a:xfrm>
          <a:prstGeom prst="roundRect">
            <a:avLst/>
          </a:prstGeom>
          <a:solidFill>
            <a:schemeClr val="bg1"/>
          </a:solidFill>
          <a:ln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C67BE502-06C9-07AA-8E9E-4D3A2D631778}"/>
              </a:ext>
            </a:extLst>
          </p:cNvPr>
          <p:cNvSpPr txBox="1"/>
          <p:nvPr/>
        </p:nvSpPr>
        <p:spPr>
          <a:xfrm>
            <a:off x="7645975" y="1082342"/>
            <a:ext cx="1795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B5DB"/>
                </a:solidFill>
                <a:latin typeface="Aptos"/>
              </a:defRPr>
            </a:pPr>
            <a:r>
              <a:rPr sz="900" dirty="0">
                <a:solidFill>
                  <a:srgbClr val="FF3A00"/>
                </a:solidFill>
              </a:rPr>
              <a:t>ACTIVIDADES</a:t>
            </a:r>
          </a:p>
        </p:txBody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1DFBA599-D031-B72C-2C1A-FBA574BBB94E}"/>
              </a:ext>
            </a:extLst>
          </p:cNvPr>
          <p:cNvSpPr txBox="1"/>
          <p:nvPr/>
        </p:nvSpPr>
        <p:spPr>
          <a:xfrm>
            <a:off x="7796867" y="1455167"/>
            <a:ext cx="1095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MX" sz="800" dirty="0">
                <a:solidFill>
                  <a:schemeClr val="tx1"/>
                </a:solidFill>
              </a:rPr>
              <a:t>01  Topología sin enlace fallado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8AE514BF-3413-F62D-713F-403195EC523E}"/>
              </a:ext>
            </a:extLst>
          </p:cNvPr>
          <p:cNvSpPr txBox="1"/>
          <p:nvPr/>
        </p:nvSpPr>
        <p:spPr>
          <a:xfrm>
            <a:off x="7776411" y="2013320"/>
            <a:ext cx="939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MX" sz="800" dirty="0">
                <a:solidFill>
                  <a:schemeClr val="tx1"/>
                </a:solidFill>
              </a:rPr>
              <a:t>02  Enlaces críticos y caminos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310427D0-F564-F05E-7FCF-D4365E19C4DD}"/>
              </a:ext>
            </a:extLst>
          </p:cNvPr>
          <p:cNvSpPr txBox="1"/>
          <p:nvPr/>
        </p:nvSpPr>
        <p:spPr>
          <a:xfrm>
            <a:off x="7780113" y="2570975"/>
            <a:ext cx="1028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03  Generación adaptativa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5FE5A9CA-74B6-D87D-EE89-7DE4AD35A0AB}"/>
              </a:ext>
            </a:extLst>
          </p:cNvPr>
          <p:cNvSpPr txBox="1"/>
          <p:nvPr/>
        </p:nvSpPr>
        <p:spPr>
          <a:xfrm>
            <a:off x="7796867" y="3128132"/>
            <a:ext cx="93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MX" sz="800" dirty="0">
                <a:solidFill>
                  <a:schemeClr val="tx1"/>
                </a:solidFill>
              </a:rPr>
              <a:t>04  Carga de cada Target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F5D3A8ED-1B36-EE6B-DABE-CB3F30B99D98}"/>
              </a:ext>
            </a:extLst>
          </p:cNvPr>
          <p:cNvSpPr txBox="1"/>
          <p:nvPr/>
        </p:nvSpPr>
        <p:spPr>
          <a:xfrm>
            <a:off x="7776411" y="3686285"/>
            <a:ext cx="973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05  Filtrado y Pareto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585C81-E04B-C11B-1556-899957BAE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197758"/>
            <a:ext cx="5455835" cy="322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3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4BD2722C-95EC-2D7C-6796-C17954C2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34A86483-2582-CB4E-74D6-846121444DFF}"/>
              </a:ext>
            </a:extLst>
          </p:cNvPr>
          <p:cNvSpPr/>
          <p:nvPr/>
        </p:nvSpPr>
        <p:spPr>
          <a:xfrm>
            <a:off x="309119" y="876602"/>
            <a:ext cx="7094982" cy="3789362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BE7CF4B-610F-1A83-0869-FEB7BA794719}"/>
              </a:ext>
            </a:extLst>
          </p:cNvPr>
          <p:cNvSpPr txBox="1"/>
          <p:nvPr/>
        </p:nvSpPr>
        <p:spPr>
          <a:xfrm>
            <a:off x="455616" y="33634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Etapa 04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2615A886-9E84-F809-F0CA-1A47E8A453EB}"/>
              </a:ext>
            </a:extLst>
          </p:cNvPr>
          <p:cNvSpPr txBox="1"/>
          <p:nvPr/>
        </p:nvSpPr>
        <p:spPr>
          <a:xfrm>
            <a:off x="455616" y="4807160"/>
            <a:ext cx="902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AD1"/>
                </a:solidFill>
                <a:latin typeface="Aptos"/>
              </a:defRPr>
            </a:pPr>
            <a:r>
              <a:rPr lang="es-MX" dirty="0">
                <a:solidFill>
                  <a:schemeClr val="tx1"/>
                </a:solidFill>
              </a:rPr>
              <a:t>OS-Ken / plan original: alternativas y orden lógico</a:t>
            </a: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254ECAAE-E19E-ED88-AEFC-6B09FB8E2703}"/>
              </a:ext>
            </a:extLst>
          </p:cNvPr>
          <p:cNvSpPr/>
          <p:nvPr/>
        </p:nvSpPr>
        <p:spPr>
          <a:xfrm>
            <a:off x="7564307" y="876603"/>
            <a:ext cx="1439994" cy="3789362"/>
          </a:xfrm>
          <a:prstGeom prst="roundRect">
            <a:avLst/>
          </a:prstGeom>
          <a:solidFill>
            <a:schemeClr val="bg1"/>
          </a:solidFill>
          <a:ln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0C4BDF3F-5410-C122-239B-BB5D640BA24C}"/>
              </a:ext>
            </a:extLst>
          </p:cNvPr>
          <p:cNvSpPr txBox="1"/>
          <p:nvPr/>
        </p:nvSpPr>
        <p:spPr>
          <a:xfrm>
            <a:off x="7645975" y="1082342"/>
            <a:ext cx="1795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B5DB"/>
                </a:solidFill>
                <a:latin typeface="Aptos"/>
              </a:defRPr>
            </a:pPr>
            <a:r>
              <a:rPr sz="900" dirty="0">
                <a:solidFill>
                  <a:srgbClr val="FF3A00"/>
                </a:solidFill>
              </a:rPr>
              <a:t>ACTIVIDADES</a:t>
            </a:r>
          </a:p>
        </p:txBody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A72EABC0-A851-F5F6-D19D-9F9D407596C0}"/>
              </a:ext>
            </a:extLst>
          </p:cNvPr>
          <p:cNvSpPr txBox="1"/>
          <p:nvPr/>
        </p:nvSpPr>
        <p:spPr>
          <a:xfrm>
            <a:off x="7796867" y="1455167"/>
            <a:ext cx="1095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01  Diferencias FS vs Target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AC25A5AF-5C9F-5ABB-D031-6C60DB862164}"/>
              </a:ext>
            </a:extLst>
          </p:cNvPr>
          <p:cNvSpPr txBox="1"/>
          <p:nvPr/>
        </p:nvSpPr>
        <p:spPr>
          <a:xfrm>
            <a:off x="7776411" y="2013320"/>
            <a:ext cx="9393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02  Operaciones de actualización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F03592AC-C16B-7180-CB2D-55E8B26447B4}"/>
              </a:ext>
            </a:extLst>
          </p:cNvPr>
          <p:cNvSpPr txBox="1"/>
          <p:nvPr/>
        </p:nvSpPr>
        <p:spPr>
          <a:xfrm>
            <a:off x="7780113" y="2570975"/>
            <a:ext cx="1028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03  Dependencias y restricciones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EB7DA63B-EAD2-867D-BA5D-3CE269C0B380}"/>
              </a:ext>
            </a:extLst>
          </p:cNvPr>
          <p:cNvSpPr txBox="1"/>
          <p:nvPr/>
        </p:nvSpPr>
        <p:spPr>
          <a:xfrm>
            <a:off x="7796867" y="3128132"/>
            <a:ext cx="93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04  Transitions por Target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16A35980-581C-53BE-32C6-961AD1193605}"/>
              </a:ext>
            </a:extLst>
          </p:cNvPr>
          <p:cNvSpPr txBox="1"/>
          <p:nvPr/>
        </p:nvSpPr>
        <p:spPr>
          <a:xfrm>
            <a:off x="7776411" y="3686285"/>
            <a:ext cx="973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05  Estados intermedios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7D3056-54FD-908B-F57C-3008AAC8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7" y="1269726"/>
            <a:ext cx="6742744" cy="271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3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DFE70814-EAFE-8147-CB33-02422363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93F61EA9-822C-9A6D-EB4C-5694324B843C}"/>
              </a:ext>
            </a:extLst>
          </p:cNvPr>
          <p:cNvSpPr/>
          <p:nvPr/>
        </p:nvSpPr>
        <p:spPr>
          <a:xfrm>
            <a:off x="309119" y="876602"/>
            <a:ext cx="7094982" cy="3789362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E3A1FF-4E19-60E5-A0BA-4F05DD1C1A60}"/>
              </a:ext>
            </a:extLst>
          </p:cNvPr>
          <p:cNvSpPr txBox="1"/>
          <p:nvPr/>
        </p:nvSpPr>
        <p:spPr>
          <a:xfrm>
            <a:off x="455616" y="33634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Etapa 05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BDE9DAE7-222F-AA7E-425D-333E391992BC}"/>
              </a:ext>
            </a:extLst>
          </p:cNvPr>
          <p:cNvSpPr txBox="1"/>
          <p:nvPr/>
        </p:nvSpPr>
        <p:spPr>
          <a:xfrm>
            <a:off x="455616" y="4807160"/>
            <a:ext cx="902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AD1"/>
                </a:solidFill>
                <a:latin typeface="Aptos"/>
              </a:defRPr>
            </a:pPr>
            <a:r>
              <a:rPr lang="es-MX" dirty="0">
                <a:solidFill>
                  <a:schemeClr val="tx1"/>
                </a:solidFill>
              </a:rPr>
              <a:t>OS-Ken: parejas admisibles, </a:t>
            </a:r>
            <a:r>
              <a:rPr lang="es-MX" dirty="0" err="1">
                <a:solidFill>
                  <a:schemeClr val="tx1"/>
                </a:solidFill>
              </a:rPr>
              <a:t>preflight</a:t>
            </a:r>
            <a:r>
              <a:rPr lang="es-MX" dirty="0">
                <a:solidFill>
                  <a:schemeClr val="tx1"/>
                </a:solidFill>
              </a:rPr>
              <a:t> y elección</a:t>
            </a: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6654A881-307A-3FEF-6695-7D4F098DEAFB}"/>
              </a:ext>
            </a:extLst>
          </p:cNvPr>
          <p:cNvSpPr/>
          <p:nvPr/>
        </p:nvSpPr>
        <p:spPr>
          <a:xfrm>
            <a:off x="7564307" y="876603"/>
            <a:ext cx="1439994" cy="3789362"/>
          </a:xfrm>
          <a:prstGeom prst="roundRect">
            <a:avLst/>
          </a:prstGeom>
          <a:solidFill>
            <a:schemeClr val="bg1"/>
          </a:solidFill>
          <a:ln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46A7F10E-5D13-5BCC-D090-FD3599275F3A}"/>
              </a:ext>
            </a:extLst>
          </p:cNvPr>
          <p:cNvSpPr txBox="1"/>
          <p:nvPr/>
        </p:nvSpPr>
        <p:spPr>
          <a:xfrm>
            <a:off x="7645975" y="1082342"/>
            <a:ext cx="1795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B5DB"/>
                </a:solidFill>
                <a:latin typeface="Aptos"/>
              </a:defRPr>
            </a:pPr>
            <a:r>
              <a:rPr sz="900" dirty="0">
                <a:solidFill>
                  <a:srgbClr val="FF3A00"/>
                </a:solidFill>
              </a:rPr>
              <a:t>ACTIVIDADES</a:t>
            </a:r>
          </a:p>
        </p:txBody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94FEF715-E83E-0637-5E90-D1B0866E171A}"/>
              </a:ext>
            </a:extLst>
          </p:cNvPr>
          <p:cNvSpPr txBox="1"/>
          <p:nvPr/>
        </p:nvSpPr>
        <p:spPr>
          <a:xfrm>
            <a:off x="7796867" y="1455167"/>
            <a:ext cx="1095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01  Factibilidad de parejas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8F513B15-C2D8-7164-7741-65727DE3B0F9}"/>
              </a:ext>
            </a:extLst>
          </p:cNvPr>
          <p:cNvSpPr txBox="1"/>
          <p:nvPr/>
        </p:nvSpPr>
        <p:spPr>
          <a:xfrm>
            <a:off x="7776411" y="2013320"/>
            <a:ext cx="9393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02  Final MLU modelada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37FC6520-CE2A-52A4-8B96-8AACF15C5C10}"/>
              </a:ext>
            </a:extLst>
          </p:cNvPr>
          <p:cNvSpPr txBox="1"/>
          <p:nvPr/>
        </p:nvSpPr>
        <p:spPr>
          <a:xfrm>
            <a:off x="7780113" y="2570975"/>
            <a:ext cx="1028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03  Peak MLU modelada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2E11A50B-CC61-49DA-49FD-E920FBD195CF}"/>
              </a:ext>
            </a:extLst>
          </p:cNvPr>
          <p:cNvSpPr txBox="1"/>
          <p:nvPr/>
        </p:nvSpPr>
        <p:spPr>
          <a:xfrm>
            <a:off x="7796867" y="3128132"/>
            <a:ext cx="93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04  Costo de reconfiguración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34AB14E3-6D1A-06AF-910B-FA8B6AE92398}"/>
              </a:ext>
            </a:extLst>
          </p:cNvPr>
          <p:cNvSpPr txBox="1"/>
          <p:nvPr/>
        </p:nvSpPr>
        <p:spPr>
          <a:xfrm>
            <a:off x="7776411" y="3686285"/>
            <a:ext cx="973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05  Selección de pareja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AE38C3-71AA-AA2C-DBA8-05A2B80CD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33" y="1082342"/>
            <a:ext cx="3678493" cy="340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7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E31B78C6-A052-6A9B-B1C2-73C0033F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BFE0C3F9-111B-28DA-57F8-37F0AA91D324}"/>
              </a:ext>
            </a:extLst>
          </p:cNvPr>
          <p:cNvSpPr/>
          <p:nvPr/>
        </p:nvSpPr>
        <p:spPr>
          <a:xfrm>
            <a:off x="309119" y="876602"/>
            <a:ext cx="7094982" cy="3789362"/>
          </a:xfrm>
          <a:prstGeom prst="roundRect">
            <a:avLst/>
          </a:prstGeom>
          <a:solidFill>
            <a:schemeClr val="bg1"/>
          </a:solidFill>
          <a:ln w="15240"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4F4320-BFA0-FA1F-5E7D-2C6E0933FDC1}"/>
              </a:ext>
            </a:extLst>
          </p:cNvPr>
          <p:cNvSpPr txBox="1"/>
          <p:nvPr/>
        </p:nvSpPr>
        <p:spPr>
          <a:xfrm>
            <a:off x="455616" y="336340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Etapa 06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BDDB3600-74B4-EF70-08B3-4BD6F028F772}"/>
              </a:ext>
            </a:extLst>
          </p:cNvPr>
          <p:cNvSpPr txBox="1"/>
          <p:nvPr/>
        </p:nvSpPr>
        <p:spPr>
          <a:xfrm>
            <a:off x="455616" y="4807160"/>
            <a:ext cx="90287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AD1"/>
                </a:solidFill>
                <a:latin typeface="Aptos"/>
              </a:defRPr>
            </a:pPr>
            <a:r>
              <a:rPr lang="es-PE" dirty="0">
                <a:solidFill>
                  <a:schemeClr val="tx1"/>
                </a:solidFill>
              </a:rPr>
              <a:t>OS-Ken: Target instalado y MLU post-FORT observada</a:t>
            </a: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18DB5BE2-5653-8921-E70F-A409326349A7}"/>
              </a:ext>
            </a:extLst>
          </p:cNvPr>
          <p:cNvSpPr/>
          <p:nvPr/>
        </p:nvSpPr>
        <p:spPr>
          <a:xfrm>
            <a:off x="7564307" y="876603"/>
            <a:ext cx="1439994" cy="3789362"/>
          </a:xfrm>
          <a:prstGeom prst="roundRect">
            <a:avLst/>
          </a:prstGeom>
          <a:solidFill>
            <a:schemeClr val="bg1"/>
          </a:solidFill>
          <a:ln>
            <a:solidFill>
              <a:srgbClr val="FF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99966154-5509-3CE9-9E5A-A383BB18FAC5}"/>
              </a:ext>
            </a:extLst>
          </p:cNvPr>
          <p:cNvSpPr txBox="1"/>
          <p:nvPr/>
        </p:nvSpPr>
        <p:spPr>
          <a:xfrm>
            <a:off x="7645975" y="1082342"/>
            <a:ext cx="179510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B5DB"/>
                </a:solidFill>
                <a:latin typeface="Aptos"/>
              </a:defRPr>
            </a:pPr>
            <a:r>
              <a:rPr sz="900" dirty="0">
                <a:solidFill>
                  <a:srgbClr val="FF3A00"/>
                </a:solidFill>
              </a:rPr>
              <a:t>ACTIVIDADES</a:t>
            </a:r>
          </a:p>
        </p:txBody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B5AF7DEB-EF79-22EA-C5CB-F9321425BEF9}"/>
              </a:ext>
            </a:extLst>
          </p:cNvPr>
          <p:cNvSpPr txBox="1"/>
          <p:nvPr/>
        </p:nvSpPr>
        <p:spPr>
          <a:xfrm>
            <a:off x="7796867" y="1455167"/>
            <a:ext cx="1095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01  Ejecución y verificación</a:t>
            </a: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040A2B4D-D669-118A-FA23-0E5605126E33}"/>
              </a:ext>
            </a:extLst>
          </p:cNvPr>
          <p:cNvSpPr txBox="1"/>
          <p:nvPr/>
        </p:nvSpPr>
        <p:spPr>
          <a:xfrm>
            <a:off x="7776411" y="2013320"/>
            <a:ext cx="939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02  Perfil experimental preliminar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7B73B5CB-A229-C8E3-D48B-C52CE629412F}"/>
              </a:ext>
            </a:extLst>
          </p:cNvPr>
          <p:cNvSpPr txBox="1"/>
          <p:nvPr/>
        </p:nvSpPr>
        <p:spPr>
          <a:xfrm>
            <a:off x="7780113" y="2570975"/>
            <a:ext cx="1028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03  Tratamientos: pendientes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86CC2C56-F756-7088-3C4E-2D0096EC53DA}"/>
              </a:ext>
            </a:extLst>
          </p:cNvPr>
          <p:cNvSpPr txBox="1"/>
          <p:nvPr/>
        </p:nvSpPr>
        <p:spPr>
          <a:xfrm>
            <a:off x="7796867" y="3128132"/>
            <a:ext cx="935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04  Métricas formales: pendientes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BAE6A08D-C214-391B-19A1-72F93B54175D}"/>
              </a:ext>
            </a:extLst>
          </p:cNvPr>
          <p:cNvSpPr txBox="1"/>
          <p:nvPr/>
        </p:nvSpPr>
        <p:spPr>
          <a:xfrm>
            <a:off x="7776411" y="3686285"/>
            <a:ext cx="973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4F9FF"/>
                </a:solidFill>
                <a:latin typeface="Aptos"/>
              </a:defRPr>
            </a:pPr>
            <a:r>
              <a:rPr lang="es-PE" sz="800" dirty="0">
                <a:solidFill>
                  <a:schemeClr val="tx1"/>
                </a:solidFill>
              </a:rPr>
              <a:t>05  Comparación final: pendiente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7E2749-5A99-028D-DA53-28AE68169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58" y="1066220"/>
            <a:ext cx="6229670" cy="34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0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CFC93D22-6CE4-EAD9-8225-6DA520C5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E35EB1-7DA0-9DA2-4398-9B16BBC1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19" y="173346"/>
            <a:ext cx="5669764" cy="479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80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07BC-092D-5F8F-F434-DC705825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6F0BD-649F-FAE5-C711-E24A80927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900" y="1775732"/>
            <a:ext cx="6694200" cy="1592036"/>
          </a:xfrm>
        </p:spPr>
        <p:txBody>
          <a:bodyPr/>
          <a:lstStyle/>
          <a:p>
            <a:pPr>
              <a:buClr>
                <a:schemeClr val="lt1"/>
              </a:buClr>
              <a:buSzPts val="4000"/>
            </a:pPr>
            <a:r>
              <a:rPr lang="es-PE" sz="44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GRACIAS</a:t>
            </a:r>
            <a:endParaRPr lang="es-MX" sz="6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39C825-ABE7-7151-405A-580CD6B1D817}"/>
              </a:ext>
            </a:extLst>
          </p:cNvPr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SEMINARIO DE INVESTIGACIÓN 1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C65FB5-FCD5-8F6C-68CF-CA066CC9001F}"/>
              </a:ext>
            </a:extLst>
          </p:cNvPr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788" dirty="0">
                <a:solidFill>
                  <a:srgbClr val="FF3A00"/>
                </a:solidFill>
              </a:rPr>
              <a:t>2026-2</a:t>
            </a:r>
            <a:endParaRPr lang="es-PE" sz="788" dirty="0">
              <a:solidFill>
                <a:srgbClr val="FF3A00"/>
              </a:solidFill>
            </a:endParaRPr>
          </a:p>
        </p:txBody>
      </p:sp>
      <p:sp>
        <p:nvSpPr>
          <p:cNvPr id="9" name="Google Shape;36;p1">
            <a:extLst>
              <a:ext uri="{FF2B5EF4-FFF2-40B4-BE49-F238E27FC236}">
                <a16:creationId xmlns:a16="http://schemas.microsoft.com/office/drawing/2014/main" id="{C04FA476-9C08-E24F-9E91-F5AA1F0FC3F7}"/>
              </a:ext>
            </a:extLst>
          </p:cNvPr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FACULTAD DE INGENIERÍA</a:t>
            </a:r>
            <a:endParaRPr sz="1000" b="0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PE" sz="1000" b="0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CARRERA DE INGENIERÍA DE SISTEMAS</a:t>
            </a:r>
            <a:endParaRPr sz="1000" b="0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86951095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6115</TotalTime>
  <Words>271</Words>
  <Application>Microsoft Office PowerPoint</Application>
  <PresentationFormat>Presentación en pantalla (16:9)</PresentationFormat>
  <Paragraphs>74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Abril Fatface</vt:lpstr>
      <vt:lpstr>Arial</vt:lpstr>
      <vt:lpstr>Verdana</vt:lpstr>
      <vt:lpstr>Nunito</vt:lpstr>
      <vt:lpstr>Business slide</vt:lpstr>
      <vt:lpstr>Algoritmo de reoptimización post-fallo basado en Target-Transition en redes SDN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your presentation begins</dc:title>
  <dc:creator>Aburto Herrera Beatrice</dc:creator>
  <cp:lastModifiedBy>Jharif Jeroffer Grandez Cama</cp:lastModifiedBy>
  <cp:revision>489</cp:revision>
  <dcterms:modified xsi:type="dcterms:W3CDTF">2026-10-14T16:00:48Z</dcterms:modified>
</cp:coreProperties>
</file>