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1" r:id="rId1"/>
  </p:sldMasterIdLst>
  <p:notesMasterIdLst>
    <p:notesMasterId r:id="rId11"/>
  </p:notesMasterIdLst>
  <p:handoutMasterIdLst>
    <p:handoutMasterId r:id="rId12"/>
  </p:handoutMasterIdLst>
  <p:sldIdLst>
    <p:sldId id="306" r:id="rId2"/>
    <p:sldId id="1076" r:id="rId3"/>
    <p:sldId id="1077" r:id="rId4"/>
    <p:sldId id="1086" r:id="rId5"/>
    <p:sldId id="1087" r:id="rId6"/>
    <p:sldId id="1088" r:id="rId7"/>
    <p:sldId id="1089" r:id="rId8"/>
    <p:sldId id="1090" r:id="rId9"/>
    <p:sldId id="1083" r:id="rId10"/>
  </p:sldIdLst>
  <p:sldSz cx="9144000" cy="5143500" type="screen16x9"/>
  <p:notesSz cx="6858000" cy="9144000"/>
  <p:embeddedFontLst>
    <p:embeddedFont>
      <p:font typeface="Abril Fatface" panose="02000503000000020003" pitchFamily="2" charset="0"/>
      <p:regular r:id="rId13"/>
    </p:embeddedFont>
    <p:embeddedFont>
      <p:font typeface="Nunito" pitchFamily="2" charset="0"/>
      <p:regular r:id="rId14"/>
      <p:bold r:id="rId15"/>
      <p:italic r:id="rId16"/>
      <p:boldItalic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A00"/>
    <a:srgbClr val="333333"/>
    <a:srgbClr val="D60000"/>
    <a:srgbClr val="F0F7FE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8B95A6-628A-4F00-B418-630C7E3DFE8E}">
  <a:tblStyle styleId="{6E8B95A6-628A-4F00-B418-630C7E3DFE8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6283" autoAdjust="0"/>
  </p:normalViewPr>
  <p:slideViewPr>
    <p:cSldViewPr snapToGrid="0" snapToObjects="1" showGuides="1">
      <p:cViewPr>
        <p:scale>
          <a:sx n="125" d="100"/>
          <a:sy n="125" d="100"/>
        </p:scale>
        <p:origin x="828" y="4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CF0CD27-47B9-AD48-B4DE-60162A2E0B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7DC2C9-B156-534D-8E40-C848812DC3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A6578-EAD0-834C-83D1-171C36565C98}" type="datetimeFigureOut">
              <a:rPr lang="es-PE" smtClean="0"/>
              <a:t>29/09/2026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717857-0327-0545-90E1-44BADE5F32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04223F-7976-5A49-9384-0FBC9D712B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0BD6E-73C6-5E4E-8AA3-AA46CA8370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5409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793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BFB0CC86-D2FD-4AC0-0E4A-2C525B0B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54649819-60C4-E10A-D079-982F84E4A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E191EFA5-F491-DBD0-0199-370624843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442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BD3F69BD-5BE7-28E5-5CB3-CA97623F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B28A7AF6-A68D-BAD2-9E12-F15FD15E6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83FFA2F3-663D-8E7D-3693-ED424A83D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5942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F71CBAD2-6180-7791-817C-D5062B42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4402948B-0851-81DE-48E4-8316C341A5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2D09F651-BA79-3FC2-A3D8-1B76D9B80C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1031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CC557FA4-8EA4-FDCD-E44B-6EEEC5F1A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E50D62DF-82EE-3981-459C-97DC849458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42C24C6D-9094-E2FC-8C15-594E35691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8466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6F604A52-A400-2D3E-EBFE-A95735D57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C21A4332-F695-6738-6763-03945CA87B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84FBAA55-21EA-3B8E-10AF-DA25CFC32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825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CAB0C653-551E-3FB6-02BC-543C9EC3B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56D5EDCE-862D-BB94-AB0A-D5CEC461F6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58F86D17-E2D0-4F35-1DF9-851A8AED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199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tx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224900" y="2957137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E60842-F737-4612-A947-C9FA3BDF18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4233"/>
          <a:stretch/>
        </p:blipFill>
        <p:spPr>
          <a:xfrm>
            <a:off x="90957" y="-1877"/>
            <a:ext cx="1684503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9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rgbClr val="FF3A00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224900" y="2945026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8B4027-63BE-4471-9EC2-401A137E88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957" y="-1877"/>
            <a:ext cx="2561321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1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tx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740B2-2B52-498B-B379-B910B65245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9893"/>
          <a:stretch/>
        </p:blipFill>
        <p:spPr>
          <a:xfrm>
            <a:off x="7100699" y="4321238"/>
            <a:ext cx="1795652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6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bg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400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76C3590-54E2-45D9-AD99-8DF487F1B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86348" y="4321238"/>
            <a:ext cx="2561321" cy="88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6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with title 1" preserve="1">
  <p:cSld name="1_Text slide with title 1">
    <p:bg>
      <p:bgPr>
        <a:solidFill>
          <a:srgbClr val="FF3A00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397325" y="104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397334" y="1628200"/>
            <a:ext cx="6147600" cy="1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4pPr>
            <a:lvl5pPr marL="228600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5pPr>
            <a:lvl6pPr marL="274320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6pPr>
            <a:lvl7pPr marL="320040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7pPr>
            <a:lvl8pPr marL="365760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8pPr>
            <a:lvl9pPr marL="411480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D424CB-1575-FB4E-A03E-542348CBF3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332BB26-420C-9542-AE02-C2D8D2FDC7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8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 type="blank" preserve="1">
  <p:cSld name="1_Title and Sub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878E344-D77D-5346-AB71-8DB7D769D0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152" t="9801" r="613" b="14877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7" name="Google Shape;37;p6"/>
          <p:cNvSpPr/>
          <p:nvPr/>
        </p:nvSpPr>
        <p:spPr>
          <a:xfrm>
            <a:off x="5042452" y="589721"/>
            <a:ext cx="3821973" cy="42406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5336324" y="900355"/>
            <a:ext cx="25986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 b="1" i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5336424" y="2100355"/>
            <a:ext cx="3270862" cy="17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6" name="Google Shape;216;p28">
            <a:extLst>
              <a:ext uri="{FF2B5EF4-FFF2-40B4-BE49-F238E27FC236}">
                <a16:creationId xmlns:a16="http://schemas.microsoft.com/office/drawing/2014/main" id="{9621EFEA-B57D-894F-9454-96EED43DCBE2}"/>
              </a:ext>
            </a:extLst>
          </p:cNvPr>
          <p:cNvSpPr/>
          <p:nvPr userDrawn="1"/>
        </p:nvSpPr>
        <p:spPr>
          <a:xfrm>
            <a:off x="5442296" y="197940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7F51E1-5589-6842-A5A4-9F0645876E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5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wo columns" type="twoColTx" preserve="1">
  <p:cSld name="1_Slide with two columns">
    <p:bg>
      <p:bgPr>
        <a:solidFill>
          <a:srgbClr val="FF3A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311700" y="105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/>
          <p:nvPr/>
        </p:nvSpPr>
        <p:spPr>
          <a:xfrm>
            <a:off x="791700" y="4187374"/>
            <a:ext cx="29078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673179" y="2226950"/>
            <a:ext cx="32520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ubTitle" idx="2"/>
          </p:nvPr>
        </p:nvSpPr>
        <p:spPr>
          <a:xfrm>
            <a:off x="673179" y="2661975"/>
            <a:ext cx="32520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3"/>
          </p:nvPr>
        </p:nvSpPr>
        <p:spPr>
          <a:xfrm>
            <a:off x="4785325" y="2226950"/>
            <a:ext cx="32520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4"/>
          </p:nvPr>
        </p:nvSpPr>
        <p:spPr>
          <a:xfrm>
            <a:off x="4785325" y="2661975"/>
            <a:ext cx="32520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64;p10">
            <a:extLst>
              <a:ext uri="{FF2B5EF4-FFF2-40B4-BE49-F238E27FC236}">
                <a16:creationId xmlns:a16="http://schemas.microsoft.com/office/drawing/2014/main" id="{9B11CE8D-9E3F-B545-90A8-091FBDD976F7}"/>
              </a:ext>
            </a:extLst>
          </p:cNvPr>
          <p:cNvSpPr/>
          <p:nvPr userDrawn="1"/>
        </p:nvSpPr>
        <p:spPr>
          <a:xfrm>
            <a:off x="5040971" y="4187374"/>
            <a:ext cx="29078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6140CDB-8B02-8F47-85E2-53F35BB87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B04DC8E-1314-C149-B3EA-968530BBD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3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hree columns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ubTitle" idx="2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78" name="Google Shape;78;p11"/>
          <p:cNvSpPr txBox="1">
            <a:spLocks noGrp="1"/>
          </p:cNvSpPr>
          <p:nvPr>
            <p:ph type="subTitle" idx="3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4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5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6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D716258-4A8A-2E4E-9D4A-AF9462E49F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sp>
        <p:nvSpPr>
          <p:cNvPr id="10" name="Marcador de número de diapositiva 2">
            <a:extLst>
              <a:ext uri="{FF2B5EF4-FFF2-40B4-BE49-F238E27FC236}">
                <a16:creationId xmlns:a16="http://schemas.microsoft.com/office/drawing/2014/main" id="{95068C37-A98D-4C68-97B6-087DC20ACD61}"/>
              </a:ext>
            </a:extLst>
          </p:cNvPr>
          <p:cNvSpPr txBox="1">
            <a:spLocks/>
          </p:cNvSpPr>
          <p:nvPr userDrawn="1"/>
        </p:nvSpPr>
        <p:spPr>
          <a:xfrm>
            <a:off x="8604250" y="4908176"/>
            <a:ext cx="539750" cy="21846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21B3793-CA5A-4C46-BE7B-8A43ED5EDC79}" type="slidenum">
              <a:rPr lang="es-ES_tradnl" sz="800" smtClean="0"/>
              <a:t>‹Nº›</a:t>
            </a:fld>
            <a:endParaRPr lang="es-ES_tradnl" sz="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hree columns" type="titleOnly" preserve="1">
  <p:cSld name="1_Slide with three columns">
    <p:bg>
      <p:bgPr>
        <a:solidFill>
          <a:srgbClr val="FF3A00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ubTitle" idx="2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78" name="Google Shape;78;p11"/>
          <p:cNvSpPr txBox="1">
            <a:spLocks noGrp="1"/>
          </p:cNvSpPr>
          <p:nvPr>
            <p:ph type="subTitle" idx="3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4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5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6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290CFE3-0E74-E845-9472-E7EDB30853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01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slide with big number" preserve="1">
  <p:cSld name="1_Red slide with big number">
    <p:bg>
      <p:bgPr>
        <a:solidFill>
          <a:schemeClr val="tx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2585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8000" b="1" i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1881147" y="3077100"/>
            <a:ext cx="53817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BEA12D-5876-F84C-924F-80A98BCBAC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5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itle" preserve="1">
  <p:cSld name="1_Slide with titl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299700" y="911325"/>
            <a:ext cx="854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93BCDC-2364-5342-8B64-B47CD4C286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9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09675"/>
            <a:ext cx="8520600" cy="20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"/>
              <a:buChar char="●"/>
              <a:defRPr sz="16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Nunito"/>
              <a:buChar char="●"/>
              <a:defRPr sz="13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"/>
              <a:buChar char="○"/>
              <a:defRPr sz="12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●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■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81" r:id="rId5"/>
    <p:sldLayoutId id="2147483678" r:id="rId6"/>
    <p:sldLayoutId id="2147483683" r:id="rId7"/>
    <p:sldLayoutId id="2147483657" r:id="rId8"/>
    <p:sldLayoutId id="2147483682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41255-CAD6-384C-86A6-64B6EB866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900" y="1044440"/>
            <a:ext cx="6694200" cy="1592036"/>
          </a:xfrm>
        </p:spPr>
        <p:txBody>
          <a:bodyPr/>
          <a:lstStyle/>
          <a:p>
            <a:r>
              <a:rPr lang="es-PE" sz="1800" cap="small" dirty="0"/>
              <a:t>Algoritmo de reoptimización post-fallo consciente del estado de protección, basado en la evaluación conjunta de configuraciones objetivo y transiciones desde Fast Failover en redes SDN</a:t>
            </a:r>
            <a:endParaRPr lang="es-PE" sz="1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CA2C41-E883-BE12-A602-0D8B03BC9652}"/>
              </a:ext>
            </a:extLst>
          </p:cNvPr>
          <p:cNvSpPr txBox="1"/>
          <p:nvPr/>
        </p:nvSpPr>
        <p:spPr>
          <a:xfrm>
            <a:off x="2966484" y="2876583"/>
            <a:ext cx="3211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Jharif Jeroffer Grandez Cama</a:t>
            </a:r>
          </a:p>
          <a:p>
            <a:pPr algn="ctr"/>
            <a:endParaRPr lang="es-PE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sym typeface="Abril Fatface"/>
            </a:endParaRPr>
          </a:p>
          <a:p>
            <a:pPr algn="ctr"/>
            <a:endParaRPr lang="es-PE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sym typeface="Abril Fatface"/>
            </a:endParaRPr>
          </a:p>
          <a:p>
            <a:pPr algn="ctr"/>
            <a:endParaRPr lang="es-PE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sym typeface="Abril Fatface"/>
            </a:endParaRPr>
          </a:p>
          <a:p>
            <a:pPr algn="ctr"/>
            <a:r>
              <a:rPr lang="es-PE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Asesor:</a:t>
            </a:r>
          </a:p>
          <a:p>
            <a:pPr algn="ctr"/>
            <a:r>
              <a:rPr lang="es-PE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Carlos Martin Torres Paredes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A212F64-8899-2666-FE6A-29B66698867A}"/>
              </a:ext>
            </a:extLst>
          </p:cNvPr>
          <p:cNvSpPr txBox="1"/>
          <p:nvPr/>
        </p:nvSpPr>
        <p:spPr>
          <a:xfrm>
            <a:off x="382772" y="4491664"/>
            <a:ext cx="1835759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SEMINARIO DE INVESTIGACIÓN 1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02E56C-A15C-9030-0F1D-2C13C67D1DFC}"/>
              </a:ext>
            </a:extLst>
          </p:cNvPr>
          <p:cNvSpPr txBox="1"/>
          <p:nvPr/>
        </p:nvSpPr>
        <p:spPr>
          <a:xfrm>
            <a:off x="382771" y="4639286"/>
            <a:ext cx="498855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2026-2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9" name="Google Shape;36;p1">
            <a:extLst>
              <a:ext uri="{FF2B5EF4-FFF2-40B4-BE49-F238E27FC236}">
                <a16:creationId xmlns:a16="http://schemas.microsoft.com/office/drawing/2014/main" id="{3981A549-892E-4BA4-A296-DEE06B93F869}"/>
              </a:ext>
            </a:extLst>
          </p:cNvPr>
          <p:cNvSpPr txBox="1"/>
          <p:nvPr/>
        </p:nvSpPr>
        <p:spPr>
          <a:xfrm>
            <a:off x="5203901" y="225486"/>
            <a:ext cx="388075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FACULTAD DE INGENIERÍA</a:t>
            </a:r>
            <a:endParaRPr sz="1000" b="0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CARRERA DE INGENIERÍA DE SISTEMAS</a:t>
            </a:r>
            <a:endParaRPr sz="1000" b="0" i="0" u="none" strike="noStrike" cap="none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95205F-C5AB-71A6-A38A-BB7A9024EF55}"/>
              </a:ext>
            </a:extLst>
          </p:cNvPr>
          <p:cNvSpPr txBox="1"/>
          <p:nvPr/>
        </p:nvSpPr>
        <p:spPr>
          <a:xfrm>
            <a:off x="3256576" y="2482587"/>
            <a:ext cx="2630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PE" b="1" dirty="0">
                <a:solidFill>
                  <a:srgbClr val="FF3A00"/>
                </a:solidFill>
              </a:rPr>
              <a:t>Línea</a:t>
            </a:r>
            <a:r>
              <a:rPr lang="es-PE" dirty="0">
                <a:solidFill>
                  <a:srgbClr val="FF3A00"/>
                </a:solidFill>
              </a:rPr>
              <a:t>: Redes y ciberseguridad</a:t>
            </a:r>
          </a:p>
        </p:txBody>
      </p:sp>
      <p:pic>
        <p:nvPicPr>
          <p:cNvPr id="3" name="Imagen 2" descr="ODS Objetivo 9: Infraestructuras y crecimiento sostenible">
            <a:extLst>
              <a:ext uri="{FF2B5EF4-FFF2-40B4-BE49-F238E27FC236}">
                <a16:creationId xmlns:a16="http://schemas.microsoft.com/office/drawing/2014/main" id="{6FCF5A23-9044-648E-565F-F6B59147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100" y="3934661"/>
            <a:ext cx="918210" cy="91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95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EBCA43F-E37E-5759-86F3-4ADD1A6CBB61}"/>
              </a:ext>
            </a:extLst>
          </p:cNvPr>
          <p:cNvSpPr txBox="1"/>
          <p:nvPr/>
        </p:nvSpPr>
        <p:spPr>
          <a:xfrm>
            <a:off x="455616" y="336340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Índice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D252CA-0D6F-545D-7263-419E5BE90DAD}"/>
              </a:ext>
            </a:extLst>
          </p:cNvPr>
          <p:cNvSpPr txBox="1"/>
          <p:nvPr/>
        </p:nvSpPr>
        <p:spPr>
          <a:xfrm>
            <a:off x="776809" y="1009455"/>
            <a:ext cx="29225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Problemática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Literatura relevante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Brecha de investigación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Objetivos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Metodología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Avance experimental</a:t>
            </a:r>
          </a:p>
        </p:txBody>
      </p:sp>
      <p:pic>
        <p:nvPicPr>
          <p:cNvPr id="3" name="Imagen 2" descr="Icono De Lista De Tareas Pendientes En Fondo Transparente PNG ,dibujos  Icono De Lista De Tareas Pendientes, Lista De Cosas Por Hacer, Lista PNG  Imagen para Descarga Gratuita | Pngtree">
            <a:extLst>
              <a:ext uri="{FF2B5EF4-FFF2-40B4-BE49-F238E27FC236}">
                <a16:creationId xmlns:a16="http://schemas.microsoft.com/office/drawing/2014/main" id="{633EC5BF-B066-ACE9-AAD1-88D1A05F0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757" y="2836273"/>
            <a:ext cx="1897924" cy="189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08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0C70AE4F-C837-7313-5D09-ABE2D45A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EEFCD90-B534-6A11-07B2-DDFA3B2880F1}"/>
              </a:ext>
            </a:extLst>
          </p:cNvPr>
          <p:cNvSpPr txBox="1"/>
          <p:nvPr/>
        </p:nvSpPr>
        <p:spPr>
          <a:xfrm>
            <a:off x="455616" y="336340"/>
            <a:ext cx="2462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Problemática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1F2021A-2588-2348-C45A-7D5DFA596F48}"/>
              </a:ext>
            </a:extLst>
          </p:cNvPr>
          <p:cNvSpPr/>
          <p:nvPr/>
        </p:nvSpPr>
        <p:spPr>
          <a:xfrm>
            <a:off x="191590" y="899704"/>
            <a:ext cx="2847703" cy="1460319"/>
          </a:xfrm>
          <a:prstGeom prst="roundRect">
            <a:avLst/>
          </a:prstGeom>
          <a:ln>
            <a:solidFill>
              <a:srgbClr val="33333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b="1" dirty="0" err="1"/>
              <a:t>ShortCut</a:t>
            </a:r>
            <a:r>
              <a:rPr lang="es-PE" sz="800" b="1" dirty="0"/>
              <a:t> - Shukla y Foerster (2021)</a:t>
            </a:r>
          </a:p>
          <a:p>
            <a:pPr algn="just"/>
            <a:r>
              <a:rPr lang="es-PE" sz="800" dirty="0"/>
              <a:t>Fast Reroute permite recuperar rápidamente la conectividad, pero puede dejar rutas temporales subóptimas antes de que converja el plano de control.</a:t>
            </a:r>
          </a:p>
          <a:p>
            <a:r>
              <a:rPr lang="es-PE" sz="800" b="1" dirty="0"/>
              <a:t>Hallazgos:</a:t>
            </a:r>
            <a:endParaRPr lang="es-PE" sz="800" dirty="0"/>
          </a:p>
          <a:p>
            <a:pPr lvl="0"/>
            <a:r>
              <a:rPr lang="es-PE" sz="800" dirty="0"/>
              <a:t>Desvíos innecesarios en las rutas.</a:t>
            </a:r>
          </a:p>
          <a:p>
            <a:pPr lvl="0"/>
            <a:r>
              <a:rPr lang="es-PE" sz="800" dirty="0"/>
              <a:t>Mayor carga en determinados enlaces.</a:t>
            </a:r>
          </a:p>
          <a:p>
            <a:pPr lvl="0"/>
            <a:r>
              <a:rPr lang="es-PE" sz="800" dirty="0"/>
              <a:t>Posible incremento de la pérdida de paquetes.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290B5CB-9975-57CA-F1B2-AB7BEDB8A9C6}"/>
              </a:ext>
            </a:extLst>
          </p:cNvPr>
          <p:cNvSpPr/>
          <p:nvPr/>
        </p:nvSpPr>
        <p:spPr>
          <a:xfrm>
            <a:off x="3191692" y="899704"/>
            <a:ext cx="2847703" cy="1460319"/>
          </a:xfrm>
          <a:prstGeom prst="roundRect">
            <a:avLst/>
          </a:prstGeom>
          <a:ln>
            <a:solidFill>
              <a:srgbClr val="33333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b="1" dirty="0"/>
              <a:t>P4Resilience - Li et al. (2022)</a:t>
            </a:r>
          </a:p>
          <a:p>
            <a:pPr algn="just"/>
            <a:r>
              <a:rPr lang="es-PE" sz="800" dirty="0"/>
              <a:t>La recuperación local permite reaccionar rápidamente ante el fallo, pero puede dejar congestión residual en la red.</a:t>
            </a:r>
          </a:p>
          <a:p>
            <a:r>
              <a:rPr lang="es-PE" sz="800" b="1" dirty="0"/>
              <a:t>Hallazgos:</a:t>
            </a:r>
            <a:endParaRPr lang="es-PE" sz="800" dirty="0"/>
          </a:p>
          <a:p>
            <a:pPr lvl="0"/>
            <a:r>
              <a:rPr lang="es-PE" sz="800" dirty="0"/>
              <a:t>La conectividad puede recuperarse rápidamente.</a:t>
            </a:r>
          </a:p>
          <a:p>
            <a:pPr lvl="0"/>
            <a:r>
              <a:rPr lang="es-PE" sz="800" dirty="0"/>
              <a:t>Puede persistir congestión después de la recuperación local.</a:t>
            </a:r>
          </a:p>
          <a:p>
            <a:pPr lvl="0"/>
            <a:r>
              <a:rPr lang="es-PE" sz="800" dirty="0"/>
              <a:t>Se requiere una etapa posterior de Traffic Engineering para redistribuir el tráfico.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92EFD288-4608-4B5A-137D-2B5A1EFE155E}"/>
              </a:ext>
            </a:extLst>
          </p:cNvPr>
          <p:cNvSpPr/>
          <p:nvPr/>
        </p:nvSpPr>
        <p:spPr>
          <a:xfrm>
            <a:off x="6191794" y="899704"/>
            <a:ext cx="2847703" cy="1460319"/>
          </a:xfrm>
          <a:prstGeom prst="roundRect">
            <a:avLst/>
          </a:prstGeom>
          <a:ln>
            <a:solidFill>
              <a:srgbClr val="33333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b="1" dirty="0"/>
              <a:t>FCNR - Song et al. (2021)</a:t>
            </a:r>
          </a:p>
          <a:p>
            <a:pPr algn="just"/>
            <a:r>
              <a:rPr lang="es-PE" sz="800" dirty="0"/>
              <a:t>Alcanzar una nueva configuración también implica un proceso de actualización distribuido y asíncrono; seleccionar una configuración objetivo sin considerar su despliegue puede prolongar la reconfiguración.</a:t>
            </a:r>
          </a:p>
          <a:p>
            <a:r>
              <a:rPr lang="es-PE" sz="800" b="1" dirty="0"/>
              <a:t>Aspectos considerados:</a:t>
            </a:r>
            <a:endParaRPr lang="es-PE" sz="800" dirty="0"/>
          </a:p>
          <a:p>
            <a:pPr lvl="0"/>
            <a:r>
              <a:rPr lang="es-PE" sz="800" dirty="0"/>
              <a:t>Tiempo de despliegue.</a:t>
            </a:r>
          </a:p>
          <a:p>
            <a:pPr lvl="0"/>
            <a:r>
              <a:rPr lang="es-PE" sz="800" dirty="0"/>
              <a:t>Actualizaciones de reglas.</a:t>
            </a:r>
          </a:p>
          <a:p>
            <a:pPr lvl="0"/>
            <a:r>
              <a:rPr lang="es-PE" sz="800" dirty="0"/>
              <a:t>Rondas de actualización.</a:t>
            </a:r>
          </a:p>
          <a:p>
            <a:pPr lvl="0"/>
            <a:r>
              <a:rPr lang="es-PE" sz="800" dirty="0"/>
              <a:t>Consistencia durante la reconfiguración.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861783B6-AF83-A388-DFA1-E58F07DC5CD7}"/>
              </a:ext>
            </a:extLst>
          </p:cNvPr>
          <p:cNvSpPr/>
          <p:nvPr/>
        </p:nvSpPr>
        <p:spPr>
          <a:xfrm>
            <a:off x="988423" y="2701490"/>
            <a:ext cx="3084823" cy="1672046"/>
          </a:xfrm>
          <a:prstGeom prst="roundRect">
            <a:avLst/>
          </a:prstGeom>
          <a:ln>
            <a:solidFill>
              <a:srgbClr val="D6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900" b="1" dirty="0">
                <a:solidFill>
                  <a:srgbClr val="FF0000"/>
                </a:solidFill>
              </a:rPr>
              <a:t>PROBLEMÁTICA IDENTIFICADA</a:t>
            </a:r>
          </a:p>
          <a:p>
            <a:pPr algn="just"/>
            <a:r>
              <a:rPr lang="es-PE" sz="900" dirty="0"/>
              <a:t>La recuperación rápida puede restablecer la conectividad </a:t>
            </a:r>
            <a:r>
              <a:rPr lang="es-PE" sz="900" dirty="0">
                <a:solidFill>
                  <a:srgbClr val="FF0000"/>
                </a:solidFill>
              </a:rPr>
              <a:t>sin garantizar una configuración post-fallo adecuada</a:t>
            </a:r>
            <a:r>
              <a:rPr lang="es-PE" sz="900" dirty="0"/>
              <a:t> y alcanzar posteriormente una configuración más conveniente implica también </a:t>
            </a:r>
            <a:r>
              <a:rPr lang="es-PE" sz="900" dirty="0">
                <a:solidFill>
                  <a:srgbClr val="FF0000"/>
                </a:solidFill>
              </a:rPr>
              <a:t>un proceso de reconfiguración que debe ser considerado.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036F86F-E7D5-29C5-519E-833F5C10E397}"/>
              </a:ext>
            </a:extLst>
          </p:cNvPr>
          <p:cNvSpPr txBox="1"/>
          <p:nvPr/>
        </p:nvSpPr>
        <p:spPr>
          <a:xfrm>
            <a:off x="91439" y="4807160"/>
            <a:ext cx="85344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500" b="1" dirty="0"/>
              <a:t>Fuentes:</a:t>
            </a:r>
            <a:r>
              <a:rPr lang="es-PE" sz="500" dirty="0"/>
              <a:t> Shukla, A., &amp; Foerster, K.-T. (2021). </a:t>
            </a:r>
            <a:r>
              <a:rPr lang="es-PE" sz="500" i="1" dirty="0" err="1"/>
              <a:t>Shortcutting</a:t>
            </a:r>
            <a:r>
              <a:rPr lang="es-PE" sz="500" i="1" dirty="0"/>
              <a:t> Fast Failover </a:t>
            </a:r>
            <a:r>
              <a:rPr lang="es-PE" sz="500" i="1" dirty="0" err="1"/>
              <a:t>Routes</a:t>
            </a:r>
            <a:r>
              <a:rPr lang="es-PE" sz="500" i="1" dirty="0"/>
              <a:t> in </a:t>
            </a:r>
            <a:r>
              <a:rPr lang="es-PE" sz="500" i="1" dirty="0" err="1"/>
              <a:t>the</a:t>
            </a:r>
            <a:r>
              <a:rPr lang="es-PE" sz="500" i="1" dirty="0"/>
              <a:t> Data Plane</a:t>
            </a:r>
            <a:r>
              <a:rPr lang="es-PE" sz="500" dirty="0"/>
              <a:t>. Li, Z., Hu, Y., Wu, J., &amp; Lu, J. (2022). </a:t>
            </a:r>
            <a:r>
              <a:rPr lang="es-PE" sz="500" i="1" dirty="0"/>
              <a:t>P4Resilience: </a:t>
            </a:r>
            <a:r>
              <a:rPr lang="es-PE" sz="500" i="1" dirty="0" err="1"/>
              <a:t>Scalable</a:t>
            </a:r>
            <a:r>
              <a:rPr lang="es-PE" sz="500" i="1" dirty="0"/>
              <a:t> </a:t>
            </a:r>
            <a:r>
              <a:rPr lang="es-PE" sz="500" i="1" dirty="0" err="1"/>
              <a:t>Resilience</a:t>
            </a:r>
            <a:r>
              <a:rPr lang="es-PE" sz="500" i="1" dirty="0"/>
              <a:t> </a:t>
            </a:r>
            <a:r>
              <a:rPr lang="es-PE" sz="500" i="1" dirty="0" err="1"/>
              <a:t>for</a:t>
            </a:r>
            <a:r>
              <a:rPr lang="es-PE" sz="500" i="1" dirty="0"/>
              <a:t> </a:t>
            </a:r>
            <a:r>
              <a:rPr lang="es-PE" sz="500" i="1" dirty="0" err="1"/>
              <a:t>Multi-failure</a:t>
            </a:r>
            <a:r>
              <a:rPr lang="es-PE" sz="500" i="1" dirty="0"/>
              <a:t> </a:t>
            </a:r>
            <a:r>
              <a:rPr lang="es-PE" sz="500" i="1" dirty="0" err="1"/>
              <a:t>Recovery</a:t>
            </a:r>
            <a:r>
              <a:rPr lang="es-PE" sz="500" i="1" dirty="0"/>
              <a:t> in SDN </a:t>
            </a:r>
            <a:r>
              <a:rPr lang="es-PE" sz="500" i="1" dirty="0" err="1"/>
              <a:t>with</a:t>
            </a:r>
            <a:r>
              <a:rPr lang="es-PE" sz="500" i="1" dirty="0"/>
              <a:t> Programmable Data Plane</a:t>
            </a:r>
            <a:r>
              <a:rPr lang="es-PE" sz="500" dirty="0"/>
              <a:t>. </a:t>
            </a:r>
            <a:r>
              <a:rPr lang="es-PE" sz="500" i="1" dirty="0" err="1"/>
              <a:t>Computer</a:t>
            </a:r>
            <a:r>
              <a:rPr lang="es-PE" sz="500" i="1" dirty="0"/>
              <a:t> Networks, 208</a:t>
            </a:r>
            <a:r>
              <a:rPr lang="es-PE" sz="500" dirty="0"/>
              <a:t>, 108896. Song, H., Guo, S., Li, P., &amp; Liu, G. (2021). </a:t>
            </a:r>
            <a:r>
              <a:rPr lang="es-PE" sz="500" i="1" dirty="0"/>
              <a:t>FCNR: Fast and </a:t>
            </a:r>
            <a:r>
              <a:rPr lang="es-PE" sz="500" i="1" dirty="0" err="1"/>
              <a:t>Consistent</a:t>
            </a:r>
            <a:r>
              <a:rPr lang="es-PE" sz="500" i="1" dirty="0"/>
              <a:t> Network </a:t>
            </a:r>
            <a:r>
              <a:rPr lang="es-PE" sz="500" i="1" dirty="0" err="1"/>
              <a:t>Reconfiguration</a:t>
            </a:r>
            <a:r>
              <a:rPr lang="es-PE" sz="500" i="1" dirty="0"/>
              <a:t> </a:t>
            </a:r>
            <a:r>
              <a:rPr lang="es-PE" sz="500" i="1" dirty="0" err="1"/>
              <a:t>with</a:t>
            </a:r>
            <a:r>
              <a:rPr lang="es-PE" sz="500" i="1" dirty="0"/>
              <a:t> </a:t>
            </a:r>
            <a:r>
              <a:rPr lang="es-PE" sz="500" i="1" dirty="0" err="1"/>
              <a:t>low</a:t>
            </a:r>
            <a:r>
              <a:rPr lang="es-PE" sz="500" i="1" dirty="0"/>
              <a:t> </a:t>
            </a:r>
            <a:r>
              <a:rPr lang="es-PE" sz="500" i="1" dirty="0" err="1"/>
              <a:t>latency</a:t>
            </a:r>
            <a:r>
              <a:rPr lang="es-PE" sz="500" i="1" dirty="0"/>
              <a:t> </a:t>
            </a:r>
            <a:r>
              <a:rPr lang="es-PE" sz="500" i="1" dirty="0" err="1"/>
              <a:t>for</a:t>
            </a:r>
            <a:r>
              <a:rPr lang="es-PE" sz="500" i="1" dirty="0"/>
              <a:t> SDN</a:t>
            </a:r>
            <a:r>
              <a:rPr lang="es-PE" sz="500" dirty="0"/>
              <a:t>. </a:t>
            </a:r>
            <a:r>
              <a:rPr lang="es-PE" sz="500" i="1" dirty="0" err="1"/>
              <a:t>Computer</a:t>
            </a:r>
            <a:r>
              <a:rPr lang="es-PE" sz="500" i="1" dirty="0"/>
              <a:t> Networks</a:t>
            </a:r>
            <a:r>
              <a:rPr lang="es-PE" sz="500" dirty="0"/>
              <a:t>, 108113.</a:t>
            </a: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37BCFCA8-2A8B-4CDE-CA60-68E0049B9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837" y="2680903"/>
            <a:ext cx="2811324" cy="180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17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1438C776-BCD0-4B9C-4065-0C6820F9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4DF3BF0-6997-91E0-18A4-BD24BF95C5A0}"/>
              </a:ext>
            </a:extLst>
          </p:cNvPr>
          <p:cNvSpPr txBox="1"/>
          <p:nvPr/>
        </p:nvSpPr>
        <p:spPr>
          <a:xfrm>
            <a:off x="455616" y="336340"/>
            <a:ext cx="3736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Literatura Relevante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4C23900-52BD-6B40-A63F-C6D65A6F7B44}"/>
              </a:ext>
            </a:extLst>
          </p:cNvPr>
          <p:cNvSpPr/>
          <p:nvPr/>
        </p:nvSpPr>
        <p:spPr>
          <a:xfrm>
            <a:off x="515741" y="854367"/>
            <a:ext cx="8259796" cy="1343101"/>
          </a:xfrm>
          <a:prstGeom prst="roundRect">
            <a:avLst/>
          </a:prstGeom>
          <a:ln>
            <a:solidFill>
              <a:srgbClr val="FF3A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900" b="1" dirty="0">
                <a:solidFill>
                  <a:srgbClr val="FF3A00"/>
                </a:solidFill>
              </a:rPr>
              <a:t>K-</a:t>
            </a:r>
            <a:r>
              <a:rPr lang="es-PE" sz="900" b="1" dirty="0" err="1">
                <a:solidFill>
                  <a:srgbClr val="FF3A00"/>
                </a:solidFill>
              </a:rPr>
              <a:t>Backup</a:t>
            </a:r>
            <a:r>
              <a:rPr lang="es-PE" sz="900" b="1" dirty="0">
                <a:solidFill>
                  <a:srgbClr val="FF3A00"/>
                </a:solidFill>
              </a:rPr>
              <a:t> - Wang et al. (2024)</a:t>
            </a:r>
          </a:p>
          <a:p>
            <a:r>
              <a:rPr lang="es-PE" sz="800" b="1" dirty="0"/>
              <a:t>Problema</a:t>
            </a:r>
            <a:r>
              <a:rPr lang="es-PE" sz="800" dirty="0"/>
              <a:t> </a:t>
            </a:r>
          </a:p>
          <a:p>
            <a:r>
              <a:rPr lang="es-PE" sz="800" dirty="0"/>
              <a:t>Un único backup puede congestionar la red recuperada; </a:t>
            </a:r>
          </a:p>
          <a:p>
            <a:r>
              <a:rPr lang="es-PE" sz="800" dirty="0"/>
              <a:t>mantener y actualizar múltiples reglas de respaldo puede </a:t>
            </a:r>
          </a:p>
          <a:p>
            <a:r>
              <a:rPr lang="es-PE" sz="800" dirty="0"/>
              <a:t>incrementar el uso de TCAM y el overhead</a:t>
            </a:r>
          </a:p>
          <a:p>
            <a:r>
              <a:rPr lang="es-PE" sz="800" b="1" dirty="0"/>
              <a:t>Propuesta</a:t>
            </a:r>
            <a:r>
              <a:rPr lang="es-PE" sz="800" dirty="0"/>
              <a:t> </a:t>
            </a:r>
          </a:p>
          <a:p>
            <a:r>
              <a:rPr lang="es-PE" sz="800" dirty="0"/>
              <a:t>Planificar múltiples backups considerando conjuntamente </a:t>
            </a:r>
          </a:p>
          <a:p>
            <a:r>
              <a:rPr lang="es-PE" sz="800" dirty="0"/>
              <a:t>MLU post-recovery y TCAM, mediante grupos </a:t>
            </a:r>
          </a:p>
          <a:p>
            <a:r>
              <a:rPr lang="es-PE" sz="800" dirty="0"/>
              <a:t>Fast Failover y SELECT.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0232A1-3D2A-8658-8F2D-4F4520CA0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82" y="989007"/>
            <a:ext cx="4788118" cy="1138959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5912FA4-BF11-5952-ED13-EC301C2E5131}"/>
              </a:ext>
            </a:extLst>
          </p:cNvPr>
          <p:cNvSpPr/>
          <p:nvPr/>
        </p:nvSpPr>
        <p:spPr>
          <a:xfrm>
            <a:off x="519820" y="2274482"/>
            <a:ext cx="8259796" cy="1343101"/>
          </a:xfrm>
          <a:prstGeom prst="roundRect">
            <a:avLst/>
          </a:prstGeom>
          <a:ln>
            <a:solidFill>
              <a:srgbClr val="FF3A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900" b="1" dirty="0">
                <a:solidFill>
                  <a:srgbClr val="FF3A00"/>
                </a:solidFill>
              </a:rPr>
              <a:t>FCNR - Song et al. (2021)</a:t>
            </a:r>
          </a:p>
          <a:p>
            <a:r>
              <a:rPr lang="es-PE" sz="800" b="1" dirty="0"/>
              <a:t>Problema</a:t>
            </a:r>
            <a:r>
              <a:rPr lang="es-PE" sz="800" dirty="0"/>
              <a:t> </a:t>
            </a:r>
          </a:p>
          <a:p>
            <a:r>
              <a:rPr lang="es-PE" sz="800" dirty="0"/>
              <a:t>Diferentes configuraciones objetivo pueden requerir distintos </a:t>
            </a:r>
          </a:p>
          <a:p>
            <a:r>
              <a:rPr lang="es-PE" sz="800" dirty="0"/>
              <a:t>tiempos y operaciones para ser desplegadas.</a:t>
            </a:r>
          </a:p>
          <a:p>
            <a:r>
              <a:rPr lang="es-PE" sz="800" b="1" dirty="0"/>
              <a:t>Propuesta</a:t>
            </a:r>
            <a:r>
              <a:rPr lang="es-PE" sz="800" dirty="0"/>
              <a:t> </a:t>
            </a:r>
          </a:p>
          <a:p>
            <a:r>
              <a:rPr lang="es-PE" sz="800" dirty="0"/>
              <a:t>Seleccionar el Target considerando su tiempo de despliegue </a:t>
            </a:r>
          </a:p>
          <a:p>
            <a:r>
              <a:rPr lang="es-PE" sz="800" dirty="0"/>
              <a:t>y posteriormente ejecutar una actualización consistente.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4F40C42-592B-A608-2844-D10824428BDB}"/>
              </a:ext>
            </a:extLst>
          </p:cNvPr>
          <p:cNvSpPr/>
          <p:nvPr/>
        </p:nvSpPr>
        <p:spPr>
          <a:xfrm>
            <a:off x="519820" y="3694597"/>
            <a:ext cx="8259796" cy="1343101"/>
          </a:xfrm>
          <a:prstGeom prst="roundRect">
            <a:avLst/>
          </a:prstGeom>
          <a:ln>
            <a:solidFill>
              <a:srgbClr val="FF3A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900" b="1" dirty="0">
                <a:solidFill>
                  <a:srgbClr val="FF3A00"/>
                </a:solidFill>
              </a:rPr>
              <a:t>PSA-FRR / PSAR-FRR - Ahmed y Al </a:t>
            </a:r>
            <a:r>
              <a:rPr lang="es-PE" sz="900" b="1" dirty="0" err="1">
                <a:solidFill>
                  <a:srgbClr val="FF3A00"/>
                </a:solidFill>
              </a:rPr>
              <a:t>Mtawa</a:t>
            </a:r>
            <a:r>
              <a:rPr lang="es-PE" sz="900" b="1" dirty="0">
                <a:solidFill>
                  <a:srgbClr val="FF3A00"/>
                </a:solidFill>
              </a:rPr>
              <a:t> (2026)</a:t>
            </a:r>
          </a:p>
          <a:p>
            <a:r>
              <a:rPr lang="es-PE" sz="800" b="1" dirty="0"/>
              <a:t>Problema</a:t>
            </a:r>
            <a:r>
              <a:rPr lang="es-PE" sz="800" dirty="0"/>
              <a:t> </a:t>
            </a:r>
          </a:p>
          <a:p>
            <a:r>
              <a:rPr lang="es-PE" sz="800" dirty="0"/>
              <a:t>La convergencia de la red y la decisión del controlador pueden </a:t>
            </a:r>
          </a:p>
          <a:p>
            <a:r>
              <a:rPr lang="es-PE" sz="800" dirty="0"/>
              <a:t>incrementar el tiempo de recuperación después de un fallo.</a:t>
            </a:r>
          </a:p>
          <a:p>
            <a:r>
              <a:rPr lang="es-PE" sz="800" b="1" dirty="0"/>
              <a:t>Propuesta</a:t>
            </a:r>
            <a:r>
              <a:rPr lang="es-PE" sz="800" dirty="0"/>
              <a:t> </a:t>
            </a:r>
          </a:p>
          <a:p>
            <a:r>
              <a:rPr lang="es-PE" sz="800" dirty="0"/>
              <a:t>Acelerar Fast Reroute utilizando estado de puertos y reglas; </a:t>
            </a:r>
          </a:p>
          <a:p>
            <a:r>
              <a:rPr lang="es-PE" sz="800" dirty="0"/>
              <a:t>PSAR-FRR incorpora una DNN para predecir el puerto de respaldo.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985A72D-BA97-AF34-BBF9-9206655A9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360" y="2409978"/>
            <a:ext cx="3855720" cy="116516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86A4410-7496-933C-F099-0729517E2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460" y="3781694"/>
            <a:ext cx="3745620" cy="116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80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EFB030C1-5792-1039-A4AF-6B3133F9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A5F58CB-A9F9-B096-D426-8F693F695E2C}"/>
              </a:ext>
            </a:extLst>
          </p:cNvPr>
          <p:cNvSpPr txBox="1"/>
          <p:nvPr/>
        </p:nvSpPr>
        <p:spPr>
          <a:xfrm>
            <a:off x="455616" y="336340"/>
            <a:ext cx="4373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Brecha de Investigación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24A3FDC-52E8-CDA9-BBE4-3BB0EC1DDFAC}"/>
              </a:ext>
            </a:extLst>
          </p:cNvPr>
          <p:cNvSpPr/>
          <p:nvPr/>
        </p:nvSpPr>
        <p:spPr>
          <a:xfrm>
            <a:off x="145617" y="925487"/>
            <a:ext cx="2409504" cy="2076793"/>
          </a:xfrm>
          <a:prstGeom prst="roundRect">
            <a:avLst/>
          </a:prstGeom>
          <a:ln>
            <a:solidFill>
              <a:srgbClr val="FF3A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PE" sz="800" b="1" dirty="0">
                <a:solidFill>
                  <a:srgbClr val="FF3A00"/>
                </a:solidFill>
              </a:rPr>
              <a:t>K-Backup - Wang et al. (2024)</a:t>
            </a:r>
          </a:p>
          <a:p>
            <a:pPr algn="just"/>
            <a:endParaRPr lang="es-PE" sz="800" b="1" dirty="0">
              <a:solidFill>
                <a:srgbClr val="FF3A00"/>
              </a:solidFill>
            </a:endParaRPr>
          </a:p>
          <a:p>
            <a:pPr algn="just"/>
            <a:r>
              <a:rPr lang="es-PE" sz="800" b="1" dirty="0">
                <a:solidFill>
                  <a:srgbClr val="FF3A00"/>
                </a:solidFill>
              </a:rPr>
              <a:t>Aporta</a:t>
            </a:r>
          </a:p>
          <a:p>
            <a:pPr lvl="0" algn="just"/>
            <a:r>
              <a:rPr lang="es-PE" sz="800" dirty="0"/>
              <a:t>Protección preinstalada con múltiples rutas.</a:t>
            </a:r>
          </a:p>
          <a:p>
            <a:pPr lvl="0" algn="just"/>
            <a:r>
              <a:rPr lang="es-PE" sz="800" dirty="0"/>
              <a:t>Grupos Fast-Failover y SELECT.</a:t>
            </a:r>
          </a:p>
          <a:p>
            <a:pPr lvl="0" algn="just"/>
            <a:r>
              <a:rPr lang="es-PE" sz="800" dirty="0"/>
              <a:t>Considera recursos de red (MLU post-recovery, TCAM).</a:t>
            </a:r>
          </a:p>
          <a:p>
            <a:pPr lvl="0" algn="just"/>
            <a:r>
              <a:rPr lang="es-PE" sz="800" dirty="0"/>
              <a:t>Mejora del desempeño tras la recuperación.</a:t>
            </a:r>
          </a:p>
          <a:p>
            <a:pPr lvl="0" algn="just"/>
            <a:endParaRPr lang="es-PE" sz="800" dirty="0"/>
          </a:p>
          <a:p>
            <a:pPr algn="just"/>
            <a:r>
              <a:rPr lang="es-PE" sz="800" b="1" dirty="0">
                <a:solidFill>
                  <a:srgbClr val="FF3A00"/>
                </a:solidFill>
              </a:rPr>
              <a:t>Limitación frente a la tesis</a:t>
            </a:r>
          </a:p>
          <a:p>
            <a:pPr algn="just"/>
            <a:r>
              <a:rPr lang="es-PE" sz="800" dirty="0"/>
              <a:t>No utiliza el estado de protección post-FF para seleccionar conjuntamente una configuración objetivo y su transición.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62B051F-990D-01B5-C0EC-6FB111BBF5EB}"/>
              </a:ext>
            </a:extLst>
          </p:cNvPr>
          <p:cNvSpPr/>
          <p:nvPr/>
        </p:nvSpPr>
        <p:spPr>
          <a:xfrm>
            <a:off x="2712721" y="925486"/>
            <a:ext cx="2409504" cy="2076793"/>
          </a:xfrm>
          <a:prstGeom prst="roundRect">
            <a:avLst/>
          </a:prstGeom>
          <a:ln>
            <a:solidFill>
              <a:srgbClr val="FF3A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PE" sz="800" b="1" dirty="0">
                <a:solidFill>
                  <a:srgbClr val="FF3A00"/>
                </a:solidFill>
              </a:rPr>
              <a:t>FCNR - Song et al. (2021)</a:t>
            </a:r>
          </a:p>
          <a:p>
            <a:pPr algn="just"/>
            <a:endParaRPr lang="es-PE" sz="800" b="1" dirty="0">
              <a:solidFill>
                <a:srgbClr val="FF3A00"/>
              </a:solidFill>
            </a:endParaRPr>
          </a:p>
          <a:p>
            <a:pPr algn="just"/>
            <a:r>
              <a:rPr lang="es-PE" sz="800" b="1" dirty="0">
                <a:solidFill>
                  <a:srgbClr val="FF3A00"/>
                </a:solidFill>
              </a:rPr>
              <a:t>Aporta</a:t>
            </a:r>
          </a:p>
          <a:p>
            <a:pPr lvl="0" algn="just"/>
            <a:r>
              <a:rPr lang="es-PE" sz="800" dirty="0"/>
              <a:t>Selección de la configuración objetivo (Target) considerando el tiempo de despliegue.</a:t>
            </a:r>
          </a:p>
          <a:p>
            <a:pPr lvl="0" algn="just"/>
            <a:r>
              <a:rPr lang="es-PE" sz="800" dirty="0"/>
              <a:t>Planificación y ejecución de una transición consistente (CSU).</a:t>
            </a:r>
          </a:p>
          <a:p>
            <a:pPr lvl="0" algn="just"/>
            <a:endParaRPr lang="es-PE" sz="800" dirty="0"/>
          </a:p>
          <a:p>
            <a:pPr algn="just"/>
            <a:r>
              <a:rPr lang="es-PE" sz="800" b="1" dirty="0">
                <a:solidFill>
                  <a:srgbClr val="FF3A00"/>
                </a:solidFill>
              </a:rPr>
              <a:t>Limitación frente a la tesis</a:t>
            </a:r>
          </a:p>
          <a:p>
            <a:pPr algn="just"/>
            <a:r>
              <a:rPr lang="es-PE" sz="800" dirty="0"/>
              <a:t>No parte específicamente de un estado post-Fast-Failover ni incorpora la protección instalada como estado inicial.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D5144CB-F428-16BE-2B4C-AF815D68F728}"/>
              </a:ext>
            </a:extLst>
          </p:cNvPr>
          <p:cNvSpPr/>
          <p:nvPr/>
        </p:nvSpPr>
        <p:spPr>
          <a:xfrm>
            <a:off x="1429169" y="2881287"/>
            <a:ext cx="2409504" cy="2076793"/>
          </a:xfrm>
          <a:prstGeom prst="roundRect">
            <a:avLst/>
          </a:prstGeom>
          <a:ln>
            <a:solidFill>
              <a:srgbClr val="FF3A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PE" sz="800" b="1" dirty="0">
                <a:solidFill>
                  <a:srgbClr val="FF3A00"/>
                </a:solidFill>
              </a:rPr>
              <a:t>PSA-FRR / PSAR-FRR - Ahmed y Al </a:t>
            </a:r>
            <a:r>
              <a:rPr lang="es-PE" sz="800" b="1" dirty="0" err="1">
                <a:solidFill>
                  <a:srgbClr val="FF3A00"/>
                </a:solidFill>
              </a:rPr>
              <a:t>Mtawa</a:t>
            </a:r>
            <a:r>
              <a:rPr lang="es-PE" sz="800" b="1" dirty="0">
                <a:solidFill>
                  <a:srgbClr val="FF3A00"/>
                </a:solidFill>
              </a:rPr>
              <a:t> (2026)</a:t>
            </a:r>
          </a:p>
          <a:p>
            <a:pPr algn="just"/>
            <a:endParaRPr lang="es-PE" sz="800" b="1" dirty="0">
              <a:solidFill>
                <a:srgbClr val="FF3A00"/>
              </a:solidFill>
            </a:endParaRPr>
          </a:p>
          <a:p>
            <a:pPr algn="just"/>
            <a:r>
              <a:rPr lang="es-PE" sz="800" b="1" dirty="0">
                <a:solidFill>
                  <a:srgbClr val="FF3A00"/>
                </a:solidFill>
              </a:rPr>
              <a:t>Aporta</a:t>
            </a:r>
          </a:p>
          <a:p>
            <a:pPr lvl="0" algn="just"/>
            <a:r>
              <a:rPr lang="es-PE" sz="800" dirty="0"/>
              <a:t>Fast Reroute utilizando estado operativo de puertos y reglas.</a:t>
            </a:r>
          </a:p>
          <a:p>
            <a:pPr lvl="0" algn="just"/>
            <a:r>
              <a:rPr lang="es-PE" sz="800" dirty="0"/>
              <a:t>Recuperación rápida del tráfico.</a:t>
            </a:r>
          </a:p>
          <a:p>
            <a:pPr lvl="0" algn="just"/>
            <a:r>
              <a:rPr lang="es-PE" sz="800" dirty="0"/>
              <a:t>En PSAR-FRR, uso de una DNN para predecir el puerto de respaldo.</a:t>
            </a:r>
          </a:p>
          <a:p>
            <a:pPr lvl="0" algn="just"/>
            <a:r>
              <a:rPr lang="es-PE" sz="800" dirty="0"/>
              <a:t>Considera entornos homogéneos e híbridos.</a:t>
            </a:r>
          </a:p>
          <a:p>
            <a:pPr algn="just"/>
            <a:endParaRPr lang="es-PE" sz="800" b="1" dirty="0">
              <a:solidFill>
                <a:srgbClr val="FF3A00"/>
              </a:solidFill>
            </a:endParaRPr>
          </a:p>
          <a:p>
            <a:pPr algn="just"/>
            <a:r>
              <a:rPr lang="es-PE" sz="800" b="1" dirty="0">
                <a:solidFill>
                  <a:srgbClr val="FF3A00"/>
                </a:solidFill>
              </a:rPr>
              <a:t>Limitación frente a la tesis</a:t>
            </a:r>
          </a:p>
          <a:p>
            <a:pPr algn="just"/>
            <a:r>
              <a:rPr lang="es-PE" sz="800" dirty="0"/>
              <a:t>No compara múltiples configuraciones objetivo y transiciones para una reoptimización posterior.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2A5F6D24-CCFC-3766-FFEC-F707D9EB1180}"/>
              </a:ext>
            </a:extLst>
          </p:cNvPr>
          <p:cNvSpPr/>
          <p:nvPr/>
        </p:nvSpPr>
        <p:spPr>
          <a:xfrm>
            <a:off x="6189388" y="788335"/>
            <a:ext cx="2710772" cy="399703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800" dirty="0"/>
              <a:t>En el corpus analizado no se ha identificado un</a:t>
            </a:r>
          </a:p>
          <a:p>
            <a:r>
              <a:rPr lang="es-PE" sz="800" dirty="0"/>
              <a:t>enfoque que utilice explícitamente el estado</a:t>
            </a:r>
          </a:p>
          <a:p>
            <a:r>
              <a:rPr lang="es-PE" sz="800" dirty="0"/>
              <a:t>post-Fast-Failover, considerando:</a:t>
            </a:r>
          </a:p>
          <a:p>
            <a:pPr algn="just"/>
            <a:endParaRPr lang="es-PE" sz="800" dirty="0"/>
          </a:p>
          <a:p>
            <a:pPr algn="ctr"/>
            <a:r>
              <a:rPr lang="es-PE" sz="700" dirty="0">
                <a:solidFill>
                  <a:srgbClr val="FF3A00"/>
                </a:solidFill>
              </a:rPr>
              <a:t> FS          PS          RS</a:t>
            </a:r>
          </a:p>
          <a:p>
            <a:pPr algn="ctr"/>
            <a:r>
              <a:rPr lang="es-PE" sz="700" dirty="0">
                <a:solidFill>
                  <a:srgbClr val="FF3A00"/>
                </a:solidFill>
              </a:rPr>
              <a:t>   Reenvío    Protección   Recursos</a:t>
            </a:r>
          </a:p>
          <a:p>
            <a:pPr algn="ctr"/>
            <a:endParaRPr lang="es-PE" sz="700" dirty="0">
              <a:solidFill>
                <a:srgbClr val="FF3A00"/>
              </a:solidFill>
            </a:endParaRPr>
          </a:p>
          <a:p>
            <a:pPr algn="ctr"/>
            <a:r>
              <a:rPr lang="es-PE" sz="700" b="1" dirty="0">
                <a:solidFill>
                  <a:schemeClr val="tx1"/>
                </a:solidFill>
              </a:rPr>
              <a:t>↓</a:t>
            </a:r>
          </a:p>
          <a:p>
            <a:pPr algn="ctr"/>
            <a:endParaRPr lang="es-PE" sz="700" b="1" dirty="0">
              <a:solidFill>
                <a:schemeClr val="tx1"/>
              </a:solidFill>
            </a:endParaRPr>
          </a:p>
          <a:p>
            <a:pPr algn="ctr"/>
            <a:r>
              <a:rPr lang="es-PE" sz="800" dirty="0"/>
              <a:t>SFF+ = (FS, PS, RS)</a:t>
            </a:r>
          </a:p>
          <a:p>
            <a:pPr algn="ctr"/>
            <a:endParaRPr lang="es-PE" sz="800" dirty="0"/>
          </a:p>
          <a:p>
            <a:pPr algn="ctr"/>
            <a:r>
              <a:rPr lang="es-PE" sz="800" dirty="0"/>
              <a:t>↓</a:t>
            </a:r>
          </a:p>
          <a:p>
            <a:pPr algn="ctr"/>
            <a:r>
              <a:rPr lang="es-PE" dirty="0"/>
              <a:t> </a:t>
            </a:r>
            <a:r>
              <a:rPr lang="es-PE" sz="800" dirty="0"/>
              <a:t>múltiples pares Target–Transition</a:t>
            </a:r>
            <a:endParaRPr lang="es-PE" sz="1000" dirty="0"/>
          </a:p>
          <a:p>
            <a:pPr algn="ctr"/>
            <a:r>
              <a:rPr lang="es-PE" sz="700" dirty="0"/>
              <a:t> {(Ti , π</a:t>
            </a:r>
            <a:r>
              <a:rPr lang="es-PE" sz="700" dirty="0" err="1"/>
              <a:t>ij</a:t>
            </a:r>
            <a:r>
              <a:rPr lang="es-PE" sz="700" dirty="0"/>
              <a:t>)}</a:t>
            </a:r>
          </a:p>
          <a:p>
            <a:pPr algn="ctr"/>
            <a:endParaRPr lang="es-PE" sz="700" dirty="0"/>
          </a:p>
          <a:p>
            <a:pPr algn="ctr"/>
            <a:r>
              <a:rPr lang="es-PE" sz="700" dirty="0"/>
              <a:t>↓</a:t>
            </a:r>
          </a:p>
          <a:p>
            <a:pPr algn="ctr"/>
            <a:endParaRPr lang="es-PE" sz="700" dirty="0"/>
          </a:p>
          <a:p>
            <a:pPr algn="ctr"/>
            <a:r>
              <a:rPr lang="es-PE" sz="800" dirty="0"/>
              <a:t>evaluación conjunta desde el estado post-FF</a:t>
            </a:r>
          </a:p>
          <a:p>
            <a:pPr algn="ctr"/>
            <a:endParaRPr lang="es-PE" sz="1000" dirty="0"/>
          </a:p>
          <a:p>
            <a:r>
              <a:rPr lang="es-PE" sz="800" b="1" dirty="0"/>
              <a:t>FS:</a:t>
            </a:r>
            <a:r>
              <a:rPr lang="es-PE" sz="800" dirty="0"/>
              <a:t> </a:t>
            </a:r>
            <a:r>
              <a:rPr lang="es-PE" sz="800" dirty="0" err="1"/>
              <a:t>ForwardingState</a:t>
            </a:r>
            <a:r>
              <a:rPr lang="es-PE" sz="800" dirty="0"/>
              <a:t>   </a:t>
            </a:r>
          </a:p>
          <a:p>
            <a:r>
              <a:rPr lang="es-PE" sz="800" b="1" dirty="0"/>
              <a:t>PS:</a:t>
            </a:r>
            <a:r>
              <a:rPr lang="es-PE" sz="800" dirty="0"/>
              <a:t> </a:t>
            </a:r>
            <a:r>
              <a:rPr lang="es-PE" sz="800" dirty="0" err="1"/>
              <a:t>ProtectionState</a:t>
            </a:r>
            <a:r>
              <a:rPr lang="es-PE" sz="800" dirty="0"/>
              <a:t> </a:t>
            </a:r>
          </a:p>
          <a:p>
            <a:r>
              <a:rPr lang="es-PE" sz="800" b="1" dirty="0"/>
              <a:t>RS:</a:t>
            </a:r>
            <a:r>
              <a:rPr lang="es-PE" sz="800" dirty="0"/>
              <a:t> </a:t>
            </a:r>
            <a:r>
              <a:rPr lang="es-PE" sz="800" dirty="0" err="1"/>
              <a:t>ResourceState</a:t>
            </a:r>
            <a:br>
              <a:rPr lang="es-PE" sz="800" dirty="0"/>
            </a:br>
            <a:r>
              <a:rPr lang="es-PE" sz="800" b="1" dirty="0"/>
              <a:t>T:</a:t>
            </a:r>
            <a:r>
              <a:rPr lang="es-PE" sz="800" dirty="0"/>
              <a:t> configuración objetivo </a:t>
            </a:r>
          </a:p>
          <a:p>
            <a:r>
              <a:rPr lang="es-PE" sz="800" b="1" dirty="0"/>
              <a:t>π:</a:t>
            </a:r>
            <a:r>
              <a:rPr lang="es-PE" sz="800" dirty="0"/>
              <a:t> transición</a:t>
            </a:r>
          </a:p>
          <a:p>
            <a:endParaRPr lang="es-PE" sz="800" dirty="0"/>
          </a:p>
          <a:p>
            <a:pPr algn="just"/>
            <a:r>
              <a:rPr lang="es-PE" sz="800" dirty="0">
                <a:solidFill>
                  <a:srgbClr val="FF3A00"/>
                </a:solidFill>
              </a:rPr>
              <a:t>La configuración objetivo conveniente puede depender de la protección y los recursos que permanecen instalados después del fallo.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129646E-6A95-B30B-7A06-35805CF3F46D}"/>
              </a:ext>
            </a:extLst>
          </p:cNvPr>
          <p:cNvSpPr txBox="1"/>
          <p:nvPr/>
        </p:nvSpPr>
        <p:spPr>
          <a:xfrm>
            <a:off x="5226191" y="1355691"/>
            <a:ext cx="11613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8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1242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4D8115C4-7F07-67FF-C662-1CBB48696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A4E258E-5A47-6356-8E06-C50ACB263A0B}"/>
              </a:ext>
            </a:extLst>
          </p:cNvPr>
          <p:cNvSpPr txBox="1"/>
          <p:nvPr/>
        </p:nvSpPr>
        <p:spPr>
          <a:xfrm>
            <a:off x="455616" y="336340"/>
            <a:ext cx="1829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Objetivos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F82ECE-45C5-9FEE-3FF4-4E1E4BB71F07}"/>
              </a:ext>
            </a:extLst>
          </p:cNvPr>
          <p:cNvSpPr txBox="1"/>
          <p:nvPr/>
        </p:nvSpPr>
        <p:spPr>
          <a:xfrm>
            <a:off x="579120" y="957923"/>
            <a:ext cx="572008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s-PE" sz="1100" b="1" dirty="0">
                <a:effectLst/>
                <a:latin typeface="Arial"/>
                <a:ea typeface="Arial" panose="020B0604020202020204" pitchFamily="34" charset="0"/>
                <a:cs typeface="Aptos" panose="020B0004020202020204" pitchFamily="34" charset="0"/>
              </a:rPr>
              <a:t>Objetivo general: </a:t>
            </a:r>
            <a:endParaRPr lang="es-PE" sz="1100" dirty="0">
              <a:effectLst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s-PE" sz="1100" dirty="0">
                <a:solidFill>
                  <a:srgbClr val="000000"/>
                </a:solidFill>
                <a:effectLst/>
                <a:latin typeface="Arial"/>
                <a:ea typeface="Arial" panose="020B0604020202020204" pitchFamily="34" charset="0"/>
                <a:cs typeface="Aptos" panose="020B0004020202020204" pitchFamily="34" charset="0"/>
              </a:rPr>
              <a:t>Desarrollar un algoritmo de reoptimización post-fallo en redes SDN que seleccione conjuntamente una configuración objetivo y su transición desde un estado temporal de Fast Failover, considerando el estado de protección y los recursos disponibles para mejorar el desempeño de la red durante su reconfiguración.</a:t>
            </a:r>
            <a:endParaRPr lang="es-PE" sz="1100" dirty="0">
              <a:effectLst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s-PE" sz="1100" b="1" dirty="0">
                <a:effectLst/>
                <a:latin typeface="Arial"/>
                <a:ea typeface="Arial" panose="020B0604020202020204" pitchFamily="34" charset="0"/>
                <a:cs typeface="Aptos" panose="020B0004020202020204" pitchFamily="34" charset="0"/>
              </a:rPr>
              <a:t>Objetivos específicos:</a:t>
            </a:r>
            <a:r>
              <a:rPr lang="es-PE" sz="1100" dirty="0">
                <a:solidFill>
                  <a:srgbClr val="000000"/>
                </a:solidFill>
                <a:effectLst/>
                <a:latin typeface="Arial"/>
                <a:ea typeface="Arial" panose="020B0604020202020204" pitchFamily="34" charset="0"/>
                <a:cs typeface="Aptos" panose="020B0004020202020204" pitchFamily="34" charset="0"/>
              </a:rPr>
              <a:t> </a:t>
            </a:r>
            <a:endParaRPr lang="es-PE" sz="1100" dirty="0">
              <a:effectLst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600"/>
              </a:spcAft>
              <a:buClr>
                <a:srgbClr val="FF3A00"/>
              </a:buClr>
              <a:buFont typeface="Arial" panose="020B0604020202020204" pitchFamily="34" charset="0"/>
              <a:buChar char="●"/>
            </a:pPr>
            <a:r>
              <a:rPr lang="es-PE" sz="1100" dirty="0">
                <a:effectLst/>
                <a:latin typeface="Arial"/>
                <a:ea typeface="Arial" panose="020B0604020202020204" pitchFamily="34" charset="0"/>
                <a:cs typeface="Noto Sans Symbols"/>
              </a:rPr>
              <a:t>Modelar el estado post-fallo de una red SDN después de la actuación de Fast Failover, considerando el estado de reenvío, la protección instalada y los recursos disponibles.</a:t>
            </a:r>
            <a:endParaRPr lang="es-PE" sz="1100" dirty="0">
              <a:effectLst/>
              <a:latin typeface="Arial"/>
              <a:ea typeface="Noto Sans Symbols"/>
              <a:cs typeface="Noto Sans Symbols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600"/>
              </a:spcAft>
              <a:buClr>
                <a:srgbClr val="FF3A00"/>
              </a:buClr>
              <a:buFont typeface="Arial" panose="020B0604020202020204" pitchFamily="34" charset="0"/>
              <a:buChar char="●"/>
            </a:pPr>
            <a:r>
              <a:rPr lang="es-MX" sz="1100" dirty="0">
                <a:solidFill>
                  <a:srgbClr val="000000"/>
                </a:solidFill>
                <a:effectLst/>
                <a:latin typeface="Arial"/>
                <a:ea typeface="Arial" panose="020B0604020202020204" pitchFamily="34" charset="0"/>
                <a:cs typeface="Noto Sans Symbols"/>
              </a:rPr>
              <a:t>Generar configuraciones objetivo y transiciones candidatas de reoptimización a partir del estado post-fallo, considerando las restricciones de conectividad, capacidad, protección y recursos de la red</a:t>
            </a:r>
            <a:r>
              <a:rPr lang="es-PE" sz="1100" dirty="0">
                <a:solidFill>
                  <a:srgbClr val="000000"/>
                </a:solidFill>
                <a:effectLst/>
                <a:latin typeface="Arial"/>
                <a:ea typeface="Arial" panose="020B0604020202020204" pitchFamily="34" charset="0"/>
                <a:cs typeface="Noto Sans Symbols"/>
              </a:rPr>
              <a:t>.</a:t>
            </a:r>
            <a:endParaRPr lang="es-PE" sz="1100" dirty="0">
              <a:effectLst/>
              <a:latin typeface="Arial"/>
              <a:ea typeface="Noto Sans Symbols"/>
              <a:cs typeface="Noto Sans Symbols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600"/>
              </a:spcAft>
              <a:buClr>
                <a:srgbClr val="FF3A00"/>
              </a:buClr>
              <a:buFont typeface="Arial" panose="020B0604020202020204" pitchFamily="34" charset="0"/>
              <a:buChar char="●"/>
            </a:pPr>
            <a:r>
              <a:rPr lang="es-PE" sz="1100" dirty="0">
                <a:effectLst/>
                <a:latin typeface="Arial"/>
                <a:ea typeface="Arial" panose="020B0604020202020204" pitchFamily="34" charset="0"/>
                <a:cs typeface="Noto Sans Symbols"/>
              </a:rPr>
              <a:t>Diseñar un mecanismo de evaluación conjunta de configuraciones objetivo y transiciones que permita seleccionar una reconfiguración factible considerando el desempeño final, el comportamiento transitorio y el costo de reconfiguración.</a:t>
            </a:r>
            <a:endParaRPr lang="es-PE" sz="1100" dirty="0">
              <a:effectLst/>
              <a:latin typeface="Arial"/>
              <a:ea typeface="Noto Sans Symbols"/>
              <a:cs typeface="Noto Sans Symbols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600"/>
              </a:spcAft>
              <a:buClr>
                <a:srgbClr val="FF3A00"/>
              </a:buClr>
              <a:buFont typeface="Arial" panose="020B0604020202020204" pitchFamily="34" charset="0"/>
              <a:buChar char="●"/>
            </a:pPr>
            <a:r>
              <a:rPr lang="es-PE" sz="1100" dirty="0">
                <a:effectLst/>
                <a:latin typeface="Arial"/>
                <a:ea typeface="Arial" panose="020B0604020202020204" pitchFamily="34" charset="0"/>
                <a:cs typeface="Noto Sans Symbols"/>
              </a:rPr>
              <a:t>Evaluar el algoritmo propuesto frente a enfoques de referencia mediante escenarios controlados de fallos y tráfico, analizando la factibilidad de las reconfiguraciones y el desempeño de la red.</a:t>
            </a:r>
            <a:endParaRPr lang="es-PE" sz="1050" dirty="0">
              <a:effectLst/>
              <a:latin typeface="Noto Sans Symbols"/>
              <a:ea typeface="Noto Sans Symbols"/>
              <a:cs typeface="Noto Sans Symbol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62103D-80E4-6162-E2D5-89ED9D824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752" y="375920"/>
            <a:ext cx="2307192" cy="439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46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426E7586-4C4E-5F9C-F7A3-61FB7493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D0D5327-7578-7AF5-7494-608CD1F4F1D4}"/>
              </a:ext>
            </a:extLst>
          </p:cNvPr>
          <p:cNvSpPr txBox="1"/>
          <p:nvPr/>
        </p:nvSpPr>
        <p:spPr>
          <a:xfrm>
            <a:off x="455616" y="336340"/>
            <a:ext cx="2302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Metodología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0377CA-6B09-A385-E2AB-934447A7D3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2" y="1297485"/>
            <a:ext cx="8287075" cy="23731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32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1BD1B161-A194-D927-6547-346DC539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4672972-D41B-10F4-F0FE-A4E5ED61186F}"/>
              </a:ext>
            </a:extLst>
          </p:cNvPr>
          <p:cNvSpPr txBox="1"/>
          <p:nvPr/>
        </p:nvSpPr>
        <p:spPr>
          <a:xfrm>
            <a:off x="455616" y="336340"/>
            <a:ext cx="3834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Avance Experimental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C67552-47FF-0FE8-E829-191B431DE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92" y="1287145"/>
            <a:ext cx="4256809" cy="2341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71A34A7-FB1B-E6E6-E033-F8242F23F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00944"/>
            <a:ext cx="4387708" cy="274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5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07BC-092D-5F8F-F434-DC7058258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6F0BD-649F-FAE5-C711-E24A80927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900" y="1775732"/>
            <a:ext cx="6694200" cy="1592036"/>
          </a:xfrm>
        </p:spPr>
        <p:txBody>
          <a:bodyPr/>
          <a:lstStyle/>
          <a:p>
            <a:pPr>
              <a:buClr>
                <a:schemeClr val="lt1"/>
              </a:buClr>
              <a:buSzPts val="4000"/>
            </a:pPr>
            <a:r>
              <a:rPr lang="es-PE" sz="44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GRACIAS</a:t>
            </a:r>
            <a:endParaRPr lang="es-MX" sz="60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39C825-ABE7-7151-405A-580CD6B1D817}"/>
              </a:ext>
            </a:extLst>
          </p:cNvPr>
          <p:cNvSpPr txBox="1"/>
          <p:nvPr/>
        </p:nvSpPr>
        <p:spPr>
          <a:xfrm>
            <a:off x="382772" y="4491664"/>
            <a:ext cx="1835759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SEMINARIO DE INVESTIGACIÓN 1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C65FB5-FCD5-8F6C-68CF-CA066CC9001F}"/>
              </a:ext>
            </a:extLst>
          </p:cNvPr>
          <p:cNvSpPr txBox="1"/>
          <p:nvPr/>
        </p:nvSpPr>
        <p:spPr>
          <a:xfrm>
            <a:off x="382771" y="4639286"/>
            <a:ext cx="498855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2026-2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9" name="Google Shape;36;p1">
            <a:extLst>
              <a:ext uri="{FF2B5EF4-FFF2-40B4-BE49-F238E27FC236}">
                <a16:creationId xmlns:a16="http://schemas.microsoft.com/office/drawing/2014/main" id="{C04FA476-9C08-E24F-9E91-F5AA1F0FC3F7}"/>
              </a:ext>
            </a:extLst>
          </p:cNvPr>
          <p:cNvSpPr txBox="1"/>
          <p:nvPr/>
        </p:nvSpPr>
        <p:spPr>
          <a:xfrm>
            <a:off x="5203901" y="225486"/>
            <a:ext cx="388075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FACULTAD DE INGENIERÍA</a:t>
            </a:r>
            <a:endParaRPr sz="1000" b="0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CARRERA DE INGENIERÍA DE SISTEMAS</a:t>
            </a:r>
            <a:endParaRPr sz="1000" b="0" i="0" u="none" strike="noStrike" cap="none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86951095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slid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5983</TotalTime>
  <Words>986</Words>
  <Application>Microsoft Office PowerPoint</Application>
  <PresentationFormat>Presentación en pantalla (16:9)</PresentationFormat>
  <Paragraphs>136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Noto Sans Symbols</vt:lpstr>
      <vt:lpstr>Nunito</vt:lpstr>
      <vt:lpstr>Abril Fatface</vt:lpstr>
      <vt:lpstr>Arial</vt:lpstr>
      <vt:lpstr>Verdana</vt:lpstr>
      <vt:lpstr>Business slide</vt:lpstr>
      <vt:lpstr>Algoritmo de reoptimización post-fallo consciente del estado de protección, basado en la evaluación conjunta de configuraciones objetivo y transiciones desde Fast Failover en redes SDN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where your presentation begins</dc:title>
  <dc:creator>Aburto Herrera Beatrice</dc:creator>
  <cp:lastModifiedBy>Jharif Jeroffer Grandez Cama</cp:lastModifiedBy>
  <cp:revision>486</cp:revision>
  <dcterms:modified xsi:type="dcterms:W3CDTF">2026-09-29T16:47:04Z</dcterms:modified>
</cp:coreProperties>
</file>