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12"/>
  </p:notesMasterIdLst>
  <p:handoutMasterIdLst>
    <p:handoutMasterId r:id="rId13"/>
  </p:handoutMasterIdLst>
  <p:sldIdLst>
    <p:sldId id="306" r:id="rId2"/>
    <p:sldId id="1076" r:id="rId3"/>
    <p:sldId id="1077" r:id="rId4"/>
    <p:sldId id="1078" r:id="rId5"/>
    <p:sldId id="1079" r:id="rId6"/>
    <p:sldId id="1080" r:id="rId7"/>
    <p:sldId id="1081" r:id="rId8"/>
    <p:sldId id="1082" r:id="rId9"/>
    <p:sldId id="1084" r:id="rId10"/>
    <p:sldId id="1083" r:id="rId11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14"/>
    </p:embeddedFont>
    <p:embeddedFont>
      <p:font typeface="Cambria Math" panose="02040503050406030204" pitchFamily="18" charset="0"/>
      <p:regular r:id="rId15"/>
    </p:embeddedFont>
    <p:embeddedFont>
      <p:font typeface="Nunito" pitchFamily="2" charset="0"/>
      <p:regular r:id="rId16"/>
      <p:bold r:id="rId17"/>
      <p:italic r:id="rId18"/>
      <p:boldItalic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A00"/>
    <a:srgbClr val="F0F7FE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8B95A6-628A-4F00-B418-630C7E3DFE8E}">
  <a:tblStyle styleId="{6E8B95A6-628A-4F00-B418-630C7E3DFE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6283" autoAdjust="0"/>
  </p:normalViewPr>
  <p:slideViewPr>
    <p:cSldViewPr snapToGrid="0" snapToObjects="1" showGuides="1">
      <p:cViewPr>
        <p:scale>
          <a:sx n="125" d="100"/>
          <a:sy n="125" d="100"/>
        </p:scale>
        <p:origin x="828" y="4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CF0CD27-47B9-AD48-B4DE-60162A2E0B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7DC2C9-B156-534D-8E40-C848812DC3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A6578-EAD0-834C-83D1-171C36565C98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717857-0327-0545-90E1-44BADE5F32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04223F-7976-5A49-9384-0FBC9D712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0BD6E-73C6-5E4E-8AA3-AA46CA8370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5409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793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BFB0CC86-D2FD-4AC0-0E4A-2C525B0B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54649819-60C4-E10A-D079-982F84E4A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E191EFA5-F491-DBD0-0199-370624843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442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2246EFA9-C269-DF67-163D-66C1637F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13976C65-C8DB-54FB-EEF1-172A2C874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10A97498-FE0B-31DA-E009-30F82BC55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7985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2DF3AFD3-B981-0865-7C53-E9103215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C1BE59A1-7311-94B6-9DBC-264F12B78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276AEA30-6A99-A325-48E0-386B2E84F7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546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872EAE17-67CB-59A4-497F-16314C129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F7AC6F39-638D-E668-AE98-E6E73F531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2C84E7F1-9C63-F6FF-7A62-C16C447D9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7310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D29A521A-5C90-12DC-89CA-836C638D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BA82872E-483B-2583-1B80-C2709B7B1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54E49F3C-BB0A-FB53-CD4E-E68D883FC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692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CF0E8066-4BBA-FDDD-3BBF-AAAEDC23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4E88A1D2-F760-22C3-934D-4A5FE6832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D7BF1F21-E55B-FB66-7922-567006E02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28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224900" y="2957137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E60842-F737-4612-A947-C9FA3BDF18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4233"/>
          <a:stretch/>
        </p:blipFill>
        <p:spPr>
          <a:xfrm>
            <a:off x="90957" y="-1877"/>
            <a:ext cx="1684503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9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rgbClr val="FF3A00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224900" y="2945026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8B4027-63BE-4471-9EC2-401A137E88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57" y="-1877"/>
            <a:ext cx="2561321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1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740B2-2B52-498B-B379-B910B6524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9893"/>
          <a:stretch/>
        </p:blipFill>
        <p:spPr>
          <a:xfrm>
            <a:off x="7100699" y="4321238"/>
            <a:ext cx="1795652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6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bg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6C3590-54E2-45D9-AD99-8DF487F1B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6348" y="4321238"/>
            <a:ext cx="2561321" cy="88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 preserve="1">
  <p:cSld name="1_Text slide with title 1">
    <p:bg>
      <p:bgPr>
        <a:solidFill>
          <a:srgbClr val="FF3A0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97325" y="104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397334" y="1628200"/>
            <a:ext cx="6147600" cy="1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4pPr>
            <a:lvl5pPr marL="228600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5pPr>
            <a:lvl6pPr marL="274320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6pPr>
            <a:lvl7pPr marL="320040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7pPr>
            <a:lvl8pPr marL="365760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8pPr>
            <a:lvl9pPr marL="411480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D424CB-1575-FB4E-A03E-542348CBF3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332BB26-420C-9542-AE02-C2D8D2FDC7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8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 type="blank" preserve="1">
  <p:cSld name="1_Title and Sub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878E344-D77D-5346-AB71-8DB7D769D0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152" t="9801" r="613" b="14877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7" name="Google Shape;37;p6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5336324" y="900355"/>
            <a:ext cx="25986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 b="1" i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6" name="Google Shape;216;p28">
            <a:extLst>
              <a:ext uri="{FF2B5EF4-FFF2-40B4-BE49-F238E27FC236}">
                <a16:creationId xmlns:a16="http://schemas.microsoft.com/office/drawing/2014/main" id="{9621EFEA-B57D-894F-9454-96EED43DCBE2}"/>
              </a:ext>
            </a:extLst>
          </p:cNvPr>
          <p:cNvSpPr/>
          <p:nvPr userDrawn="1"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7F51E1-5589-6842-A5A4-9F0645876E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5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wo columns" type="twoColTx" preserve="1">
  <p:cSld name="1_Slide with two columns">
    <p:bg>
      <p:bgPr>
        <a:solidFill>
          <a:srgbClr val="FF3A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/>
          <p:nvPr/>
        </p:nvSpPr>
        <p:spPr>
          <a:xfrm>
            <a:off x="791700" y="4187374"/>
            <a:ext cx="29078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2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3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4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64;p10">
            <a:extLst>
              <a:ext uri="{FF2B5EF4-FFF2-40B4-BE49-F238E27FC236}">
                <a16:creationId xmlns:a16="http://schemas.microsoft.com/office/drawing/2014/main" id="{9B11CE8D-9E3F-B545-90A8-091FBDD976F7}"/>
              </a:ext>
            </a:extLst>
          </p:cNvPr>
          <p:cNvSpPr/>
          <p:nvPr userDrawn="1"/>
        </p:nvSpPr>
        <p:spPr>
          <a:xfrm>
            <a:off x="5040971" y="4187374"/>
            <a:ext cx="29078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6140CDB-8B02-8F47-85E2-53F35BB87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B04DC8E-1314-C149-B3EA-968530BBD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3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D716258-4A8A-2E4E-9D4A-AF9462E49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sp>
        <p:nvSpPr>
          <p:cNvPr id="10" name="Marcador de número de diapositiva 2">
            <a:extLst>
              <a:ext uri="{FF2B5EF4-FFF2-40B4-BE49-F238E27FC236}">
                <a16:creationId xmlns:a16="http://schemas.microsoft.com/office/drawing/2014/main" id="{95068C37-A98D-4C68-97B6-087DC20ACD61}"/>
              </a:ext>
            </a:extLst>
          </p:cNvPr>
          <p:cNvSpPr txBox="1">
            <a:spLocks/>
          </p:cNvSpPr>
          <p:nvPr userDrawn="1"/>
        </p:nvSpPr>
        <p:spPr>
          <a:xfrm>
            <a:off x="8604250" y="4908176"/>
            <a:ext cx="539750" cy="2184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21B3793-CA5A-4C46-BE7B-8A43ED5EDC79}" type="slidenum">
              <a:rPr lang="es-ES_tradnl" sz="800" smtClean="0"/>
              <a:t>‹Nº›</a:t>
            </a:fld>
            <a:endParaRPr lang="es-ES_tradnl" sz="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 preserve="1">
  <p:cSld name="1_Slide with three columns">
    <p:bg>
      <p:bgPr>
        <a:solidFill>
          <a:srgbClr val="FF3A00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90CFE3-0E74-E845-9472-E7EDB30853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01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slide with big number" preserve="1">
  <p:cSld name="1_Red slide with big number">
    <p:bg>
      <p:bgPr>
        <a:solidFill>
          <a:schemeClr val="tx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2585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8000" b="1" i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1881147" y="3077100"/>
            <a:ext cx="53817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BEA12D-5876-F84C-924F-80A98BCBAC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itle" preserve="1">
  <p:cSld name="1_Slide with titl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93BCDC-2364-5342-8B64-B47CD4C286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9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09675"/>
            <a:ext cx="8520600" cy="20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Char char="●"/>
              <a:defRPr sz="16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"/>
              <a:buChar char="○"/>
              <a:defRPr sz="12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●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■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81" r:id="rId5"/>
    <p:sldLayoutId id="2147483678" r:id="rId6"/>
    <p:sldLayoutId id="2147483683" r:id="rId7"/>
    <p:sldLayoutId id="2147483657" r:id="rId8"/>
    <p:sldLayoutId id="2147483682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41255-CAD6-384C-86A6-64B6EB866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900" y="993595"/>
            <a:ext cx="6694200" cy="1592036"/>
          </a:xfrm>
        </p:spPr>
        <p:txBody>
          <a:bodyPr/>
          <a:lstStyle/>
          <a:p>
            <a:pPr>
              <a:buClr>
                <a:schemeClr val="lt1"/>
              </a:buClr>
              <a:buSzPts val="4000"/>
            </a:pPr>
            <a:r>
              <a:rPr lang="es-MX" sz="1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Marco Teórico: </a:t>
            </a:r>
            <a:r>
              <a:rPr lang="es-PE" sz="1600" dirty="0"/>
              <a:t>Algoritmo de reoptimización post-fallo basado en la evaluación conjunta de configuraciones objetivo y transiciones desde un estado temporal de Fast Failover en redes SDN</a:t>
            </a:r>
            <a:endParaRPr lang="es-MX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CA2C41-E883-BE12-A602-0D8B03BC9652}"/>
              </a:ext>
            </a:extLst>
          </p:cNvPr>
          <p:cNvSpPr txBox="1"/>
          <p:nvPr/>
        </p:nvSpPr>
        <p:spPr>
          <a:xfrm>
            <a:off x="2966484" y="3144308"/>
            <a:ext cx="3211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Jharif Jeroffer Grandez Cama</a:t>
            </a: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Asesor:</a:t>
            </a:r>
          </a:p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Carlos Martin Torres Paredes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212F64-8899-2666-FE6A-29B66698867A}"/>
              </a:ext>
            </a:extLst>
          </p:cNvPr>
          <p:cNvSpPr txBox="1"/>
          <p:nvPr/>
        </p:nvSpPr>
        <p:spPr>
          <a:xfrm>
            <a:off x="382772" y="4491664"/>
            <a:ext cx="1835759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SEMINARIO DE INVESTIGACIÓN 1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02E56C-A15C-9030-0F1D-2C13C67D1DFC}"/>
              </a:ext>
            </a:extLst>
          </p:cNvPr>
          <p:cNvSpPr txBox="1"/>
          <p:nvPr/>
        </p:nvSpPr>
        <p:spPr>
          <a:xfrm>
            <a:off x="382771" y="4639286"/>
            <a:ext cx="49885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2026-2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3981A549-892E-4BA4-A296-DEE06B93F869}"/>
              </a:ext>
            </a:extLst>
          </p:cNvPr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FACULTAD DE INGENIERÍA</a:t>
            </a:r>
            <a:endParaRPr sz="1000" b="0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CARRERA DE INGENIERÍA DE SISTEMAS</a:t>
            </a:r>
            <a:endParaRPr sz="1000" b="0" i="0" u="none" strike="noStrike" cap="none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95205F-C5AB-71A6-A38A-BB7A9024EF55}"/>
              </a:ext>
            </a:extLst>
          </p:cNvPr>
          <p:cNvSpPr txBox="1"/>
          <p:nvPr/>
        </p:nvSpPr>
        <p:spPr>
          <a:xfrm>
            <a:off x="3256576" y="2733253"/>
            <a:ext cx="2630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PE" b="1" dirty="0">
                <a:solidFill>
                  <a:srgbClr val="FF3A00"/>
                </a:solidFill>
              </a:rPr>
              <a:t>Línea</a:t>
            </a:r>
            <a:r>
              <a:rPr lang="es-PE" dirty="0">
                <a:solidFill>
                  <a:srgbClr val="FF3A00"/>
                </a:solidFill>
              </a:rPr>
              <a:t>: Redes y ciberseguridad</a:t>
            </a:r>
          </a:p>
        </p:txBody>
      </p:sp>
    </p:spTree>
    <p:extLst>
      <p:ext uri="{BB962C8B-B14F-4D97-AF65-F5344CB8AC3E}">
        <p14:creationId xmlns:p14="http://schemas.microsoft.com/office/powerpoint/2010/main" val="268169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BCA43F-E37E-5759-86F3-4ADD1A6CBB61}"/>
              </a:ext>
            </a:extLst>
          </p:cNvPr>
          <p:cNvSpPr txBox="1"/>
          <p:nvPr/>
        </p:nvSpPr>
        <p:spPr>
          <a:xfrm>
            <a:off x="455616" y="336340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Índice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D252CA-0D6F-545D-7263-419E5BE90DAD}"/>
              </a:ext>
            </a:extLst>
          </p:cNvPr>
          <p:cNvSpPr txBox="1"/>
          <p:nvPr/>
        </p:nvSpPr>
        <p:spPr>
          <a:xfrm>
            <a:off x="776809" y="1009455"/>
            <a:ext cx="54874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Redes SDN y encaminamiento 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Resiliencia y Fast Failover 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Ingeniería de tráfico y reoptimización 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Reconfiguración y costo de cambio 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Actualización consistente y transiciones seguras 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Relación entre Target y Transition</a:t>
            </a:r>
          </a:p>
        </p:txBody>
      </p:sp>
      <p:pic>
        <p:nvPicPr>
          <p:cNvPr id="3" name="Imagen 2" descr="Icono De Lista De Tareas Pendientes En Fondo Transparente PNG ,dibujos  Icono De Lista De Tareas Pendientes, Lista De Cosas Por Hacer, Lista PNG  Imagen para Descarga Gratuita | Pngtree">
            <a:extLst>
              <a:ext uri="{FF2B5EF4-FFF2-40B4-BE49-F238E27FC236}">
                <a16:creationId xmlns:a16="http://schemas.microsoft.com/office/drawing/2014/main" id="{633EC5BF-B066-ACE9-AAD1-88D1A05F0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757" y="2836273"/>
            <a:ext cx="1897924" cy="189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0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0C70AE4F-C837-7313-5D09-ABE2D45A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EFCD90-B534-6A11-07B2-DDFA3B2880F1}"/>
              </a:ext>
            </a:extLst>
          </p:cNvPr>
          <p:cNvSpPr txBox="1"/>
          <p:nvPr/>
        </p:nvSpPr>
        <p:spPr>
          <a:xfrm>
            <a:off x="455616" y="336340"/>
            <a:ext cx="5359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Redes SDN y encaminamiento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BA1246-6CA4-B85B-E24B-78726ADB9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0" y="1005417"/>
            <a:ext cx="3688080" cy="2766060"/>
          </a:xfrm>
          <a:prstGeom prst="rect">
            <a:avLst/>
          </a:prstGeom>
        </p:spPr>
      </p:pic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56B2174C-A012-85BD-2807-3EBED10619DF}"/>
              </a:ext>
            </a:extLst>
          </p:cNvPr>
          <p:cNvSpPr/>
          <p:nvPr/>
        </p:nvSpPr>
        <p:spPr>
          <a:xfrm>
            <a:off x="4947920" y="1477847"/>
            <a:ext cx="330200" cy="330200"/>
          </a:xfrm>
          <a:prstGeom prst="flowChartConnector">
            <a:avLst/>
          </a:prstGeom>
          <a:ln>
            <a:solidFill>
              <a:srgbClr val="FF3A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AFDC564C-EB22-BC0A-6D6D-2AA6B667BB5C}"/>
              </a:ext>
            </a:extLst>
          </p:cNvPr>
          <p:cNvSpPr/>
          <p:nvPr/>
        </p:nvSpPr>
        <p:spPr>
          <a:xfrm>
            <a:off x="4947920" y="2148407"/>
            <a:ext cx="330200" cy="330200"/>
          </a:xfrm>
          <a:prstGeom prst="flowChartConnector">
            <a:avLst/>
          </a:prstGeom>
          <a:ln>
            <a:solidFill>
              <a:srgbClr val="FF3A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2</a:t>
            </a:r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C102013D-AAFE-DDE6-FB20-45DCE1BEFD7C}"/>
              </a:ext>
            </a:extLst>
          </p:cNvPr>
          <p:cNvSpPr/>
          <p:nvPr/>
        </p:nvSpPr>
        <p:spPr>
          <a:xfrm>
            <a:off x="4947920" y="2815157"/>
            <a:ext cx="330200" cy="330200"/>
          </a:xfrm>
          <a:prstGeom prst="flowChartConnector">
            <a:avLst/>
          </a:prstGeom>
          <a:ln>
            <a:solidFill>
              <a:srgbClr val="FF3A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F60318-B5E6-B5A2-2716-7F09B57B5342}"/>
              </a:ext>
            </a:extLst>
          </p:cNvPr>
          <p:cNvSpPr txBox="1"/>
          <p:nvPr/>
        </p:nvSpPr>
        <p:spPr>
          <a:xfrm>
            <a:off x="5445045" y="1381337"/>
            <a:ext cx="2661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SDN separa el plano de control del plano de datos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5020E79-C270-0AF8-22D5-B290F9F0A1FA}"/>
              </a:ext>
            </a:extLst>
          </p:cNvPr>
          <p:cNvSpPr txBox="1"/>
          <p:nvPr/>
        </p:nvSpPr>
        <p:spPr>
          <a:xfrm>
            <a:off x="5445044" y="2051897"/>
            <a:ext cx="2921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El controlador tiene una visión global (flujos, enlaces y topología).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0E036A-0083-98C6-F069-28AF01E5054E}"/>
              </a:ext>
            </a:extLst>
          </p:cNvPr>
          <p:cNvSpPr txBox="1"/>
          <p:nvPr/>
        </p:nvSpPr>
        <p:spPr>
          <a:xfrm>
            <a:off x="5445045" y="2722457"/>
            <a:ext cx="2661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Controlador calcula rutas e implementa reglas en switches.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5608796-B9E7-166D-6E79-E8B56229A862}"/>
              </a:ext>
            </a:extLst>
          </p:cNvPr>
          <p:cNvSpPr txBox="1"/>
          <p:nvPr/>
        </p:nvSpPr>
        <p:spPr>
          <a:xfrm>
            <a:off x="3512139" y="3780337"/>
            <a:ext cx="2060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-------- Beneficios --------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792D65-8710-813D-1427-D0D63AE5D168}"/>
              </a:ext>
            </a:extLst>
          </p:cNvPr>
          <p:cNvSpPr txBox="1"/>
          <p:nvPr/>
        </p:nvSpPr>
        <p:spPr>
          <a:xfrm>
            <a:off x="1074141" y="4238764"/>
            <a:ext cx="1776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Control centralizado</a:t>
            </a:r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E71334B-7A8F-6A96-ECF3-985E34848551}"/>
              </a:ext>
            </a:extLst>
          </p:cNvPr>
          <p:cNvSpPr txBox="1"/>
          <p:nvPr/>
        </p:nvSpPr>
        <p:spPr>
          <a:xfrm>
            <a:off x="6293410" y="4239630"/>
            <a:ext cx="1768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Agilidad y velocidad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352F116-A310-0D74-96D7-187512F4CBF4}"/>
              </a:ext>
            </a:extLst>
          </p:cNvPr>
          <p:cNvSpPr txBox="1"/>
          <p:nvPr/>
        </p:nvSpPr>
        <p:spPr>
          <a:xfrm>
            <a:off x="3131541" y="4239630"/>
            <a:ext cx="2880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Programabilidad (Automatización)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52717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B7D6A4B2-8A47-C131-CDE9-7712534C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C7AC766-0550-1FE6-1F46-D2666F842EB7}"/>
              </a:ext>
            </a:extLst>
          </p:cNvPr>
          <p:cNvSpPr txBox="1"/>
          <p:nvPr/>
        </p:nvSpPr>
        <p:spPr>
          <a:xfrm>
            <a:off x="455616" y="336340"/>
            <a:ext cx="4679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Resiliencia y Fast Failover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05077CC-85A5-5ACC-9E31-DD5C33521C69}"/>
              </a:ext>
            </a:extLst>
          </p:cNvPr>
          <p:cNvGrpSpPr/>
          <p:nvPr/>
        </p:nvGrpSpPr>
        <p:grpSpPr>
          <a:xfrm>
            <a:off x="1140991" y="1140504"/>
            <a:ext cx="3151569" cy="3096171"/>
            <a:chOff x="673923" y="1203960"/>
            <a:chExt cx="4223197" cy="335530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0CC107E-F272-1ED2-D327-C873DD282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623" b="12210"/>
            <a:stretch>
              <a:fillRect/>
            </a:stretch>
          </p:blipFill>
          <p:spPr>
            <a:xfrm>
              <a:off x="751840" y="1203960"/>
              <a:ext cx="1930400" cy="1117228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F353689-BC95-DE17-9C59-544A3F122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1852" b="13481"/>
            <a:stretch>
              <a:fillRect/>
            </a:stretch>
          </p:blipFill>
          <p:spPr>
            <a:xfrm>
              <a:off x="2682240" y="2149264"/>
              <a:ext cx="2214880" cy="1240333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A376EB0F-6CF6-22CA-FB66-BCBE071B2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9580" b="21679"/>
            <a:stretch>
              <a:fillRect/>
            </a:stretch>
          </p:blipFill>
          <p:spPr>
            <a:xfrm>
              <a:off x="673923" y="3389597"/>
              <a:ext cx="2268756" cy="1169670"/>
            </a:xfrm>
            <a:prstGeom prst="rect">
              <a:avLst/>
            </a:prstGeom>
          </p:spPr>
        </p:pic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18B02DD-16CB-A011-1A39-E980BFBCBE69}"/>
              </a:ext>
            </a:extLst>
          </p:cNvPr>
          <p:cNvSpPr txBox="1"/>
          <p:nvPr/>
        </p:nvSpPr>
        <p:spPr>
          <a:xfrm>
            <a:off x="5367632" y="735752"/>
            <a:ext cx="3151569" cy="26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3A00"/>
              </a:buClr>
            </a:pPr>
            <a:r>
              <a:rPr lang="es-PE" dirty="0"/>
              <a:t>Resiliencia De Red </a:t>
            </a:r>
          </a:p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Capacidad de mantener o recuperar el servicio ante fallos</a:t>
            </a:r>
          </a:p>
          <a:p>
            <a:pPr algn="just">
              <a:lnSpc>
                <a:spcPct val="150000"/>
              </a:lnSpc>
              <a:buClr>
                <a:srgbClr val="FF3A00"/>
              </a:buClr>
            </a:pPr>
            <a:r>
              <a:rPr lang="es-PE" dirty="0"/>
              <a:t>Fast Failover</a:t>
            </a:r>
          </a:p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Recuperación local</a:t>
            </a:r>
          </a:p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Ruta de respaldo preinstalada</a:t>
            </a:r>
          </a:p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No espera una nueva decisión del controlador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8CDD60-900A-6114-EB60-9AFDE8398CA7}"/>
              </a:ext>
            </a:extLst>
          </p:cNvPr>
          <p:cNvSpPr txBox="1"/>
          <p:nvPr/>
        </p:nvSpPr>
        <p:spPr>
          <a:xfrm>
            <a:off x="4851441" y="3429771"/>
            <a:ext cx="3667760" cy="954107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PE" dirty="0"/>
              <a:t>Resultado Post-fallo </a:t>
            </a:r>
          </a:p>
          <a:p>
            <a:pPr algn="just"/>
            <a:r>
              <a:rPr lang="es-PE" dirty="0"/>
              <a:t>Recupera rápidamente la conectividad, pero puede dejar un estado temporal que requiera reoptimización. </a:t>
            </a:r>
          </a:p>
        </p:txBody>
      </p:sp>
    </p:spTree>
    <p:extLst>
      <p:ext uri="{BB962C8B-B14F-4D97-AF65-F5344CB8AC3E}">
        <p14:creationId xmlns:p14="http://schemas.microsoft.com/office/powerpoint/2010/main" val="255189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3D41BF49-0620-A496-EA6C-2F379FA60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387EDC0-C255-8475-BAEC-209C21D16314}"/>
              </a:ext>
            </a:extLst>
          </p:cNvPr>
          <p:cNvSpPr txBox="1"/>
          <p:nvPr/>
        </p:nvSpPr>
        <p:spPr>
          <a:xfrm>
            <a:off x="455616" y="336340"/>
            <a:ext cx="6723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Ingeniería de tráfico y reoptimización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A1BDDA-1D1C-029C-822A-2F221AA791E6}"/>
              </a:ext>
            </a:extLst>
          </p:cNvPr>
          <p:cNvSpPr txBox="1"/>
          <p:nvPr/>
        </p:nvSpPr>
        <p:spPr>
          <a:xfrm>
            <a:off x="2336973" y="1001397"/>
            <a:ext cx="3081172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La red recuperó la conectividad, pero el estado temporal puede mantener rutas y cargas poco convenientes.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F0D806-9F31-08F5-9B09-082F114FA181}"/>
              </a:ext>
            </a:extLst>
          </p:cNvPr>
          <p:cNvSpPr txBox="1"/>
          <p:nvPr/>
        </p:nvSpPr>
        <p:spPr>
          <a:xfrm>
            <a:off x="294640" y="956309"/>
            <a:ext cx="1717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1. Estado post-fallo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332273-51A7-015D-CE92-5A491525BC91}"/>
              </a:ext>
            </a:extLst>
          </p:cNvPr>
          <p:cNvSpPr txBox="1"/>
          <p:nvPr/>
        </p:nvSpPr>
        <p:spPr>
          <a:xfrm>
            <a:off x="2336973" y="2815781"/>
            <a:ext cx="3161344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TE gestiona cómo se distribuyen las demandas sobre la red. </a:t>
            </a:r>
          </a:p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El controlador recalcula los flujos según el estado post-fallo. </a:t>
            </a:r>
          </a:p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Puede considerar: Capacidad · Congestión · Carga · Recursos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A258142-F8C4-72D4-263F-FF402F91E0A2}"/>
              </a:ext>
            </a:extLst>
          </p:cNvPr>
          <p:cNvSpPr txBox="1"/>
          <p:nvPr/>
        </p:nvSpPr>
        <p:spPr>
          <a:xfrm>
            <a:off x="262740" y="2439607"/>
            <a:ext cx="3498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 Ingeniería De Tráfico Y Reoptimización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F23CECC-70FA-ED88-F956-7A255DE29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6" y="1264086"/>
            <a:ext cx="1604637" cy="120347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9E9ECF9-3B60-12D7-7A5B-3DDEC5A84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40" y="2945974"/>
            <a:ext cx="1961555" cy="1667227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295010B-DE1A-E6CE-74A5-8C0D2FC9EF43}"/>
              </a:ext>
            </a:extLst>
          </p:cNvPr>
          <p:cNvSpPr txBox="1"/>
          <p:nvPr/>
        </p:nvSpPr>
        <p:spPr>
          <a:xfrm>
            <a:off x="5577520" y="1091054"/>
            <a:ext cx="2343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 Configuraciones objetivo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3492F2A-BFCB-54D3-A137-FA339512FB5D}"/>
              </a:ext>
            </a:extLst>
          </p:cNvPr>
          <p:cNvSpPr txBox="1"/>
          <p:nvPr/>
        </p:nvSpPr>
        <p:spPr>
          <a:xfrm>
            <a:off x="5676617" y="3334005"/>
            <a:ext cx="2768408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3A00"/>
              </a:buClr>
              <a:buFont typeface="Wingdings" panose="05000000000000000000" pitchFamily="2" charset="2"/>
              <a:buChar char="§"/>
            </a:pPr>
            <a:r>
              <a:rPr lang="es-PE" dirty="0"/>
              <a:t>Una misma condición post-fallo puede admitir múltiples configuraciones objetivo factibles.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EFB191A1-01C6-8B84-EADA-8201AD741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477" y="1586079"/>
            <a:ext cx="2243727" cy="168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8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2642477F-660B-1CBF-33D8-FE2668B2F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338E9FE-0FF9-E0AE-A541-9F1B5104F9FD}"/>
              </a:ext>
            </a:extLst>
          </p:cNvPr>
          <p:cNvSpPr txBox="1"/>
          <p:nvPr/>
        </p:nvSpPr>
        <p:spPr>
          <a:xfrm>
            <a:off x="455616" y="336340"/>
            <a:ext cx="6202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Reconfiguración y costo de cambio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A165FD4-A428-DA81-E43A-45EC8B887F2F}"/>
              </a:ext>
            </a:extLst>
          </p:cNvPr>
          <p:cNvSpPr txBox="1"/>
          <p:nvPr/>
        </p:nvSpPr>
        <p:spPr>
          <a:xfrm>
            <a:off x="612579" y="3559264"/>
            <a:ext cx="35301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/>
              <a:t>Reencaminar flujos.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/>
              <a:t>Actualizar reglas de reenvío.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/>
              <a:t>Aplicar cambios en múltiples switches.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1E657AE-7A4E-F29C-EAF2-0DEDAE748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86" y="1656108"/>
            <a:ext cx="2601596" cy="195119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426CC3C-3918-A8EE-929E-E2D78156E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056" y="1484022"/>
            <a:ext cx="2362200" cy="17716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B84898D-0F59-F450-B3DD-3F70987C5423}"/>
              </a:ext>
            </a:extLst>
          </p:cNvPr>
          <p:cNvSpPr txBox="1"/>
          <p:nvPr/>
        </p:nvSpPr>
        <p:spPr>
          <a:xfrm>
            <a:off x="5631240" y="3424470"/>
            <a:ext cx="30607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/>
              <a:t>Tiempo de instalación.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/>
              <a:t>Dispositivos afectados.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/>
              <a:t>Operaciones sobre flujos.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21D9A4-6091-A4BF-E21C-B908A3BF157C}"/>
              </a:ext>
            </a:extLst>
          </p:cNvPr>
          <p:cNvSpPr txBox="1"/>
          <p:nvPr/>
        </p:nvSpPr>
        <p:spPr>
          <a:xfrm>
            <a:off x="5118070" y="2869071"/>
            <a:ext cx="1343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700" dirty="0"/>
              <a:t>Mayor beneficio, mayor costo de cambio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F29EC2-F4FA-07B5-DA58-BCB6AE82C019}"/>
              </a:ext>
            </a:extLst>
          </p:cNvPr>
          <p:cNvSpPr txBox="1"/>
          <p:nvPr/>
        </p:nvSpPr>
        <p:spPr>
          <a:xfrm>
            <a:off x="7617430" y="2858033"/>
            <a:ext cx="1343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700" dirty="0"/>
              <a:t>Solución mas simple </a:t>
            </a:r>
          </a:p>
          <a:p>
            <a:r>
              <a:rPr lang="es-PE" sz="700" dirty="0"/>
              <a:t>y liviana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056D12-2F29-1C2E-0912-8B2D3CE83AF7}"/>
              </a:ext>
            </a:extLst>
          </p:cNvPr>
          <p:cNvSpPr txBox="1"/>
          <p:nvPr/>
        </p:nvSpPr>
        <p:spPr>
          <a:xfrm>
            <a:off x="1015386" y="1176246"/>
            <a:ext cx="2362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dirty="0"/>
              <a:t>¿Qué implica reconfigurar?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FAF706-1420-2025-BA99-9FF62E7FC8BC}"/>
              </a:ext>
            </a:extLst>
          </p:cNvPr>
          <p:cNvSpPr txBox="1"/>
          <p:nvPr/>
        </p:nvSpPr>
        <p:spPr>
          <a:xfrm>
            <a:off x="5766416" y="1176245"/>
            <a:ext cx="2189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dirty="0"/>
              <a:t>Costo de reconfiguración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0D9D44-DD28-CC88-3D87-4BE89AC253CE}"/>
              </a:ext>
            </a:extLst>
          </p:cNvPr>
          <p:cNvSpPr txBox="1"/>
          <p:nvPr/>
        </p:nvSpPr>
        <p:spPr>
          <a:xfrm>
            <a:off x="2233376" y="4545550"/>
            <a:ext cx="49282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50" i="1" dirty="0"/>
              <a:t>La calidad del estado final y el costo de alcanzarlo son dimensiones diferentes.</a:t>
            </a:r>
          </a:p>
        </p:txBody>
      </p:sp>
    </p:spTree>
    <p:extLst>
      <p:ext uri="{BB962C8B-B14F-4D97-AF65-F5344CB8AC3E}">
        <p14:creationId xmlns:p14="http://schemas.microsoft.com/office/powerpoint/2010/main" val="2582126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83E1A5CA-1C8C-1C4D-3D8C-6702F75D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E4BEEC-7F61-7D58-4686-2D2151CD02A2}"/>
              </a:ext>
            </a:extLst>
          </p:cNvPr>
          <p:cNvSpPr txBox="1"/>
          <p:nvPr/>
        </p:nvSpPr>
        <p:spPr>
          <a:xfrm>
            <a:off x="455616" y="336340"/>
            <a:ext cx="7178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Actualización consistente y transiciones seguras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C5155B-83EF-C439-8E9B-37E1D6DD4F0B}"/>
              </a:ext>
            </a:extLst>
          </p:cNvPr>
          <p:cNvSpPr txBox="1"/>
          <p:nvPr/>
        </p:nvSpPr>
        <p:spPr>
          <a:xfrm>
            <a:off x="5489605" y="1088976"/>
            <a:ext cx="3236768" cy="1330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1100" dirty="0"/>
              <a:t>Actualización consistente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100" dirty="0"/>
              <a:t>Define qué reglas cambiar.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100" dirty="0"/>
              <a:t>Determina en qué orden hacerlo.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100" dirty="0"/>
              <a:t>Mantiene las restricciones de la red durante la transición.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88D96B-6F42-D7A0-5A3B-6AD334A87102}"/>
              </a:ext>
            </a:extLst>
          </p:cNvPr>
          <p:cNvSpPr txBox="1"/>
          <p:nvPr/>
        </p:nvSpPr>
        <p:spPr>
          <a:xfrm>
            <a:off x="5470316" y="2587314"/>
            <a:ext cx="3256057" cy="1838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1100" dirty="0"/>
              <a:t>Riesgos de una secuencia inadecuada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100" dirty="0"/>
              <a:t>Loop: el paquete circula sin alcanzar su destino.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100" dirty="0" err="1"/>
              <a:t>Blackhole</a:t>
            </a:r>
            <a:r>
              <a:rPr lang="es-PE" sz="1100" dirty="0"/>
              <a:t>: el paquete queda sin una regla válida de salida y se descarta.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100" dirty="0"/>
              <a:t>Congestión transitoria: determinados enlaces se sobrecargan durante el cambio.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B5E35DC-816F-56F2-A39D-4EF3107D3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77" y="1386167"/>
            <a:ext cx="4767691" cy="2683252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8C71445-6AAA-F2F8-7342-3A49EBFFCFA4}"/>
              </a:ext>
            </a:extLst>
          </p:cNvPr>
          <p:cNvSpPr txBox="1"/>
          <p:nvPr/>
        </p:nvSpPr>
        <p:spPr>
          <a:xfrm>
            <a:off x="704537" y="3553878"/>
            <a:ext cx="1427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Ruta valida:</a:t>
            </a:r>
          </a:p>
          <a:p>
            <a:r>
              <a:rPr lang="es-PE" sz="1000" dirty="0"/>
              <a:t>S1 → S2 → S4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C9D0CA1-A2A9-9BA6-3564-FB244DA8C8B4}"/>
              </a:ext>
            </a:extLst>
          </p:cNvPr>
          <p:cNvSpPr txBox="1"/>
          <p:nvPr/>
        </p:nvSpPr>
        <p:spPr>
          <a:xfrm>
            <a:off x="2096457" y="3556160"/>
            <a:ext cx="1427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El paquete llega a S3 pero no tiene regla de salida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C05F2B6-BEA8-71F3-B5ED-067A81AD66E3}"/>
              </a:ext>
            </a:extLst>
          </p:cNvPr>
          <p:cNvSpPr txBox="1"/>
          <p:nvPr/>
        </p:nvSpPr>
        <p:spPr>
          <a:xfrm>
            <a:off x="1192217" y="1744981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834DFE4-AEC2-641A-BED8-B62108DBE8C4}"/>
              </a:ext>
            </a:extLst>
          </p:cNvPr>
          <p:cNvSpPr txBox="1"/>
          <p:nvPr/>
        </p:nvSpPr>
        <p:spPr>
          <a:xfrm>
            <a:off x="2675577" y="1744980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A3B6DA1-C06C-0BCF-3C7F-2162A3777E5B}"/>
              </a:ext>
            </a:extLst>
          </p:cNvPr>
          <p:cNvSpPr txBox="1"/>
          <p:nvPr/>
        </p:nvSpPr>
        <p:spPr>
          <a:xfrm>
            <a:off x="4400349" y="1744979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8EA5FD8-DC3B-2BF9-3FCF-ED2A8006CE3D}"/>
              </a:ext>
            </a:extLst>
          </p:cNvPr>
          <p:cNvSpPr txBox="1"/>
          <p:nvPr/>
        </p:nvSpPr>
        <p:spPr>
          <a:xfrm>
            <a:off x="4954069" y="2528041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S3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DC457EE-23D3-89C2-8142-B0B8714E0027}"/>
              </a:ext>
            </a:extLst>
          </p:cNvPr>
          <p:cNvSpPr txBox="1"/>
          <p:nvPr/>
        </p:nvSpPr>
        <p:spPr>
          <a:xfrm>
            <a:off x="4466389" y="3222306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S4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94A97D6-12F9-B67B-9657-94684FD69235}"/>
              </a:ext>
            </a:extLst>
          </p:cNvPr>
          <p:cNvSpPr txBox="1"/>
          <p:nvPr/>
        </p:nvSpPr>
        <p:spPr>
          <a:xfrm>
            <a:off x="3622444" y="2287080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S2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5A8EDD3-44E8-0B9B-1ECA-944DA28E58E5}"/>
              </a:ext>
            </a:extLst>
          </p:cNvPr>
          <p:cNvSpPr txBox="1"/>
          <p:nvPr/>
        </p:nvSpPr>
        <p:spPr>
          <a:xfrm>
            <a:off x="3354199" y="2566022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S3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2E153AB-6734-5779-A9F2-37424C33AB3D}"/>
              </a:ext>
            </a:extLst>
          </p:cNvPr>
          <p:cNvSpPr txBox="1"/>
          <p:nvPr/>
        </p:nvSpPr>
        <p:spPr>
          <a:xfrm>
            <a:off x="2866519" y="3260287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S4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876C886-478A-7864-8EA0-76CBA99D5AED}"/>
              </a:ext>
            </a:extLst>
          </p:cNvPr>
          <p:cNvSpPr txBox="1"/>
          <p:nvPr/>
        </p:nvSpPr>
        <p:spPr>
          <a:xfrm>
            <a:off x="2022574" y="2325061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S2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7F93E2B-6882-5A38-A5A8-5E6621CBA801}"/>
              </a:ext>
            </a:extLst>
          </p:cNvPr>
          <p:cNvSpPr txBox="1"/>
          <p:nvPr/>
        </p:nvSpPr>
        <p:spPr>
          <a:xfrm>
            <a:off x="1714570" y="2601965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S3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C04725D-3CCC-F2C0-A001-496E464C5E5C}"/>
              </a:ext>
            </a:extLst>
          </p:cNvPr>
          <p:cNvSpPr txBox="1"/>
          <p:nvPr/>
        </p:nvSpPr>
        <p:spPr>
          <a:xfrm>
            <a:off x="1226890" y="3296230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S4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EB42D45-DB4A-B46D-0915-3BD444A1E0BD}"/>
              </a:ext>
            </a:extLst>
          </p:cNvPr>
          <p:cNvSpPr txBox="1"/>
          <p:nvPr/>
        </p:nvSpPr>
        <p:spPr>
          <a:xfrm>
            <a:off x="382945" y="2361004"/>
            <a:ext cx="1427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S2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8386298-443F-A644-0D10-AE9C2ABA9E52}"/>
              </a:ext>
            </a:extLst>
          </p:cNvPr>
          <p:cNvSpPr txBox="1"/>
          <p:nvPr/>
        </p:nvSpPr>
        <p:spPr>
          <a:xfrm>
            <a:off x="3864297" y="3561139"/>
            <a:ext cx="1427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Ruta valida:</a:t>
            </a:r>
          </a:p>
          <a:p>
            <a:r>
              <a:rPr lang="es-PE" sz="1000" dirty="0"/>
              <a:t>S1 → S3 → S4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430BD6A-65B6-7188-17F0-85AAA3FB1D09}"/>
              </a:ext>
            </a:extLst>
          </p:cNvPr>
          <p:cNvSpPr txBox="1"/>
          <p:nvPr/>
        </p:nvSpPr>
        <p:spPr>
          <a:xfrm>
            <a:off x="396241" y="1079099"/>
            <a:ext cx="489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dirty="0"/>
              <a:t>Los switches no actualizan sus reglas de forma simultánea; durante el cambio aparecen estados intermedios.</a:t>
            </a:r>
            <a:endParaRPr lang="es-PE" sz="900" i="1" dirty="0"/>
          </a:p>
        </p:txBody>
      </p:sp>
    </p:spTree>
    <p:extLst>
      <p:ext uri="{BB962C8B-B14F-4D97-AF65-F5344CB8AC3E}">
        <p14:creationId xmlns:p14="http://schemas.microsoft.com/office/powerpoint/2010/main" val="166081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3ED510AE-2326-DD64-BD87-57A8C0BF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10DFB0-20D0-50E2-610D-F5C065E71459}"/>
              </a:ext>
            </a:extLst>
          </p:cNvPr>
          <p:cNvSpPr txBox="1"/>
          <p:nvPr/>
        </p:nvSpPr>
        <p:spPr>
          <a:xfrm>
            <a:off x="455616" y="336340"/>
            <a:ext cx="5931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Relación entre Target y </a:t>
            </a:r>
            <a:r>
              <a:rPr lang="es-PE" sz="2400" b="1" dirty="0" err="1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Tansition</a:t>
            </a:r>
            <a:endParaRPr lang="es-PE" sz="2400" b="1" dirty="0">
              <a:solidFill>
                <a:srgbClr val="FF3A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1B53CA4B-A7D1-085D-528B-AE32F5F00CD5}"/>
              </a:ext>
            </a:extLst>
          </p:cNvPr>
          <p:cNvGrpSpPr/>
          <p:nvPr/>
        </p:nvGrpSpPr>
        <p:grpSpPr>
          <a:xfrm>
            <a:off x="166057" y="1082041"/>
            <a:ext cx="6021384" cy="3220720"/>
            <a:chOff x="455616" y="1082040"/>
            <a:chExt cx="7635075" cy="3428999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16961320-D8EC-B5AE-8AA8-597FEC9FB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63" t="2682" r="1917" b="3484"/>
            <a:stretch>
              <a:fillRect/>
            </a:stretch>
          </p:blipFill>
          <p:spPr>
            <a:xfrm>
              <a:off x="455616" y="1087120"/>
              <a:ext cx="6231985" cy="3423919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A5CF9185-D67F-0BCC-4AEE-E9A3CEC6AA0C}"/>
                </a:ext>
              </a:extLst>
            </p:cNvPr>
            <p:cNvSpPr txBox="1"/>
            <p:nvPr/>
          </p:nvSpPr>
          <p:spPr>
            <a:xfrm>
              <a:off x="1041400" y="1991359"/>
              <a:ext cx="1715534" cy="2703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/>
                <a:t>Estado temporal S</a:t>
              </a:r>
              <a:r>
                <a:rPr lang="es-PE" sz="500" dirty="0"/>
                <a:t>0</a:t>
              </a:r>
              <a:endParaRPr lang="es-PE" sz="1050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2E3A6B3-F32D-9C2E-F077-23E9F7FEA174}"/>
                </a:ext>
              </a:extLst>
            </p:cNvPr>
            <p:cNvSpPr txBox="1"/>
            <p:nvPr/>
          </p:nvSpPr>
          <p:spPr>
            <a:xfrm>
              <a:off x="4780648" y="1082040"/>
              <a:ext cx="917239" cy="2703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/>
                <a:t>Target T</a:t>
              </a:r>
              <a:r>
                <a:rPr lang="es-PE" sz="500" dirty="0"/>
                <a:t>1</a:t>
              </a:r>
              <a:endParaRPr lang="es-PE" sz="1050" dirty="0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EBE093F7-7D3A-6224-721C-888510C09413}"/>
                </a:ext>
              </a:extLst>
            </p:cNvPr>
            <p:cNvSpPr txBox="1"/>
            <p:nvPr/>
          </p:nvSpPr>
          <p:spPr>
            <a:xfrm>
              <a:off x="4780648" y="2190975"/>
              <a:ext cx="917239" cy="2703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/>
                <a:t>Target T</a:t>
              </a:r>
              <a:r>
                <a:rPr lang="es-PE" sz="500" dirty="0"/>
                <a:t>2</a:t>
              </a:r>
              <a:endParaRPr lang="es-PE" sz="1050" dirty="0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1CAE96E-FF79-607C-A978-143303466498}"/>
                </a:ext>
              </a:extLst>
            </p:cNvPr>
            <p:cNvSpPr txBox="1"/>
            <p:nvPr/>
          </p:nvSpPr>
          <p:spPr>
            <a:xfrm>
              <a:off x="4734928" y="3322015"/>
              <a:ext cx="917239" cy="2703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/>
                <a:t>Target T</a:t>
              </a:r>
              <a:r>
                <a:rPr lang="es-PE" sz="500" dirty="0"/>
                <a:t>3</a:t>
              </a:r>
              <a:endParaRPr lang="es-PE" sz="1050" dirty="0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D61E8D3-1890-BE4C-9184-717796E5C670}"/>
                </a:ext>
              </a:extLst>
            </p:cNvPr>
            <p:cNvSpPr txBox="1"/>
            <p:nvPr/>
          </p:nvSpPr>
          <p:spPr>
            <a:xfrm>
              <a:off x="3462811" y="1389816"/>
              <a:ext cx="4572000" cy="2785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PE" sz="1050" dirty="0"/>
                <a:t>τ1​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F32FE66-DB8B-AFDC-7670-4D5B945F2616}"/>
                </a:ext>
              </a:extLst>
            </p:cNvPr>
            <p:cNvSpPr txBox="1"/>
            <p:nvPr/>
          </p:nvSpPr>
          <p:spPr>
            <a:xfrm>
              <a:off x="3462811" y="2412695"/>
              <a:ext cx="4572000" cy="2785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PE" sz="1050" dirty="0"/>
                <a:t>τ2​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14CEB46-6B23-F8EE-FC70-087EEFC6755B}"/>
                </a:ext>
              </a:extLst>
            </p:cNvPr>
            <p:cNvSpPr txBox="1"/>
            <p:nvPr/>
          </p:nvSpPr>
          <p:spPr>
            <a:xfrm>
              <a:off x="3518691" y="3539867"/>
              <a:ext cx="4572000" cy="2785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PE" sz="1050" dirty="0"/>
                <a:t>τ3​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659EA69-BF83-97A4-F63B-B178C1715B4E}"/>
              </a:ext>
            </a:extLst>
          </p:cNvPr>
          <p:cNvSpPr txBox="1"/>
          <p:nvPr/>
        </p:nvSpPr>
        <p:spPr>
          <a:xfrm>
            <a:off x="5186680" y="1108979"/>
            <a:ext cx="3703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b="1" dirty="0"/>
              <a:t>Target</a:t>
            </a:r>
            <a:endParaRPr lang="es-PE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/>
              <a:t>Configuración objetivo que representa el estado estable que se desea alcanzar después de la reoptimización.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990E3522-2F46-3287-E166-E3DE2CD4B82C}"/>
                  </a:ext>
                </a:extLst>
              </p:cNvPr>
              <p:cNvSpPr txBox="1"/>
              <p:nvPr/>
            </p:nvSpPr>
            <p:spPr>
              <a:xfrm>
                <a:off x="5186680" y="2123583"/>
                <a:ext cx="370332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PE" b="1" dirty="0"/>
                  <a:t>Transition</a:t>
                </a:r>
                <a:endParaRPr lang="es-PE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PE" dirty="0"/>
                  <a:t>Secuencia de cambios y estados intermedios necesarios para pasar desde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P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PE" dirty="0"/>
                  <a:t>hasta un Target.</a:t>
                </a:r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990E3522-2F46-3287-E166-E3DE2CD4B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680" y="2123583"/>
                <a:ext cx="3703320" cy="954107"/>
              </a:xfrm>
              <a:prstGeom prst="rect">
                <a:avLst/>
              </a:prstGeom>
              <a:blipFill>
                <a:blip r:embed="rId4"/>
                <a:stretch>
                  <a:fillRect l="-494" t="-637" r="-494" b="-57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uadroTexto 26">
            <a:extLst>
              <a:ext uri="{FF2B5EF4-FFF2-40B4-BE49-F238E27FC236}">
                <a16:creationId xmlns:a16="http://schemas.microsoft.com/office/drawing/2014/main" id="{94DC251E-63F9-A773-0A4C-B04D147176FA}"/>
              </a:ext>
            </a:extLst>
          </p:cNvPr>
          <p:cNvSpPr txBox="1"/>
          <p:nvPr/>
        </p:nvSpPr>
        <p:spPr>
          <a:xfrm>
            <a:off x="5186680" y="3233887"/>
            <a:ext cx="37033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b="1" dirty="0"/>
              <a:t>Brecha identificada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/>
              <a:t>La optimización suele elegir primero el Target y después planificar la Transition, lo que limita evaluar ambas decisiones de forma conjunta.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7104B161-1DDA-BD70-BABE-965AD7BB68B4}"/>
                  </a:ext>
                </a:extLst>
              </p:cNvPr>
              <p:cNvSpPr txBox="1"/>
              <p:nvPr/>
            </p:nvSpPr>
            <p:spPr>
              <a:xfrm>
                <a:off x="120337" y="4302761"/>
                <a:ext cx="457200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PE" b="1" dirty="0">
                    <a:solidFill>
                      <a:srgbClr val="00B050"/>
                    </a:solidFill>
                  </a:rPr>
                  <a:t>Inicio de la investigación</a:t>
                </a:r>
              </a:p>
              <a:p>
                <a:pPr marL="285750" indent="-285750">
                  <a:buClr>
                    <a:srgbClr val="00B050"/>
                  </a:buClr>
                  <a:buFont typeface="Arial" panose="020B0604020202020204" pitchFamily="34" charset="0"/>
                  <a:buChar char="•"/>
                </a:pPr>
                <a:r>
                  <a:rPr lang="es-PE" dirty="0">
                    <a:solidFill>
                      <a:srgbClr val="00B050"/>
                    </a:solidFill>
                  </a:rPr>
                  <a:t>Evaluación conjunta del par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s-PE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PE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s-PE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s-PE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s-PE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PE" dirty="0">
                    <a:solidFill>
                      <a:srgbClr val="00B050"/>
                    </a:solidFill>
                  </a:rPr>
                  <a:t>desde el estado temporal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PE" b="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PE" dirty="0">
                    <a:solidFill>
                      <a:srgbClr val="00B05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7104B161-1DDA-BD70-BABE-965AD7BB6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37" y="4302761"/>
                <a:ext cx="4572000" cy="738664"/>
              </a:xfrm>
              <a:prstGeom prst="rect">
                <a:avLst/>
              </a:prstGeom>
              <a:blipFill>
                <a:blip r:embed="rId5"/>
                <a:stretch>
                  <a:fillRect l="-400" t="-1653" b="-743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684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8F700-15F7-4EB6-9F45-7B64DA9D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20" y="387275"/>
            <a:ext cx="8520600" cy="572700"/>
          </a:xfrm>
        </p:spPr>
        <p:txBody>
          <a:bodyPr/>
          <a:lstStyle/>
          <a:p>
            <a:pPr algn="l"/>
            <a:r>
              <a:rPr lang="es-MX" dirty="0"/>
              <a:t>Declaración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F510E3D-5D51-1233-E5AD-DB87DEECE1E3}"/>
              </a:ext>
            </a:extLst>
          </p:cNvPr>
          <p:cNvSpPr txBox="1"/>
          <p:nvPr/>
        </p:nvSpPr>
        <p:spPr>
          <a:xfrm>
            <a:off x="436880" y="1047274"/>
            <a:ext cx="8178800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PE" dirty="0"/>
              <a:t>Yo, </a:t>
            </a:r>
            <a:r>
              <a:rPr lang="es-PE" b="1" dirty="0"/>
              <a:t>Jharif Jeroffer Grandez Cama</a:t>
            </a:r>
            <a:r>
              <a:rPr lang="es-PE" dirty="0"/>
              <a:t>, declaro que durante la elaboración del presente trabajo se utilizaron herramientas de inteligencia artificial generativa (</a:t>
            </a:r>
            <a:r>
              <a:rPr lang="es-PE" dirty="0" err="1"/>
              <a:t>ChatGpt</a:t>
            </a:r>
            <a:r>
              <a:rPr lang="es-PE" dirty="0"/>
              <a:t> GT-5.6 Sol) como apoyo en procesos de organización de ideas, estructuración de contenidos y revisión de la presentación de la información.</a:t>
            </a:r>
          </a:p>
          <a:p>
            <a:pPr algn="just">
              <a:lnSpc>
                <a:spcPct val="150000"/>
              </a:lnSpc>
              <a:buNone/>
            </a:pPr>
            <a:endParaRPr lang="es-PE" dirty="0"/>
          </a:p>
          <a:p>
            <a:pPr algn="just">
              <a:lnSpc>
                <a:spcPct val="150000"/>
              </a:lnSpc>
              <a:buNone/>
            </a:pPr>
            <a:r>
              <a:rPr lang="es-PE" dirty="0"/>
              <a:t>Asimismo, declaro que todo contenido obtenido o asistido mediante estas herramientas ha sido revisado, contrastado y corroborado personalmente con las fuentes académicas y técnicas correspondientes antes de su incorporación al trabajo.</a:t>
            </a:r>
          </a:p>
        </p:txBody>
      </p:sp>
    </p:spTree>
    <p:extLst>
      <p:ext uri="{BB962C8B-B14F-4D97-AF65-F5344CB8AC3E}">
        <p14:creationId xmlns:p14="http://schemas.microsoft.com/office/powerpoint/2010/main" val="313084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07BC-092D-5F8F-F434-DC7058258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6F0BD-649F-FAE5-C711-E24A80927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900" y="1775732"/>
            <a:ext cx="6694200" cy="1592036"/>
          </a:xfrm>
        </p:spPr>
        <p:txBody>
          <a:bodyPr/>
          <a:lstStyle/>
          <a:p>
            <a:pPr>
              <a:buClr>
                <a:schemeClr val="lt1"/>
              </a:buClr>
              <a:buSzPts val="4000"/>
            </a:pPr>
            <a:r>
              <a:rPr lang="es-PE" sz="44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GRACIAS</a:t>
            </a:r>
            <a:endParaRPr lang="es-MX" sz="6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39C825-ABE7-7151-405A-580CD6B1D817}"/>
              </a:ext>
            </a:extLst>
          </p:cNvPr>
          <p:cNvSpPr txBox="1"/>
          <p:nvPr/>
        </p:nvSpPr>
        <p:spPr>
          <a:xfrm>
            <a:off x="382772" y="4491664"/>
            <a:ext cx="1835759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SEMINARIO DE INVESTIGACIÓN 1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C65FB5-FCD5-8F6C-68CF-CA066CC9001F}"/>
              </a:ext>
            </a:extLst>
          </p:cNvPr>
          <p:cNvSpPr txBox="1"/>
          <p:nvPr/>
        </p:nvSpPr>
        <p:spPr>
          <a:xfrm>
            <a:off x="382771" y="4639286"/>
            <a:ext cx="49885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2026-2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C04FA476-9C08-E24F-9E91-F5AA1F0FC3F7}"/>
              </a:ext>
            </a:extLst>
          </p:cNvPr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FACULTAD DE INGENIERÍA</a:t>
            </a:r>
            <a:endParaRPr sz="1000" b="0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CARRERA DE INGENIERÍA DE SISTEMAS</a:t>
            </a:r>
            <a:endParaRPr sz="1000" b="0" i="0" u="none" strike="noStrike" cap="none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86951095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5407</TotalTime>
  <Words>642</Words>
  <Application>Microsoft Office PowerPoint</Application>
  <PresentationFormat>Presentación en pantalla (16:9)</PresentationFormat>
  <Paragraphs>113</Paragraphs>
  <Slides>10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Verdana</vt:lpstr>
      <vt:lpstr>Wingdings</vt:lpstr>
      <vt:lpstr>Arial</vt:lpstr>
      <vt:lpstr>Nunito</vt:lpstr>
      <vt:lpstr>Cambria Math</vt:lpstr>
      <vt:lpstr>Abril Fatface</vt:lpstr>
      <vt:lpstr>Business slide</vt:lpstr>
      <vt:lpstr>Marco Teórico: Algoritmo de reoptimización post-fallo basado en la evaluación conjunta de configuraciones objetivo y transiciones desde un estado temporal de Fast Failover en redes SDN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Declaración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your presentation begins</dc:title>
  <dc:creator>Aburto Herrera Beatrice</dc:creator>
  <cp:lastModifiedBy>Jharif Jeroffer Grandez Cama</cp:lastModifiedBy>
  <cp:revision>484</cp:revision>
  <dcterms:modified xsi:type="dcterms:W3CDTF">2026-09-16T18:40:49Z</dcterms:modified>
</cp:coreProperties>
</file>